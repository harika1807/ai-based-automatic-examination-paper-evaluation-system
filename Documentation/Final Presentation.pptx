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Times New Roman Bold"/>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sp>
        <p:nvSpPr>
          <p:cNvPr id="2" name="Freeform 2"/>
          <p:cNvSpPr/>
          <p:nvPr/>
        </p:nvSpPr>
        <p:spPr>
          <a:xfrm>
            <a:off x="496391" y="419744"/>
            <a:ext cx="17453088" cy="9533749"/>
          </a:xfrm>
          <a:custGeom>
            <a:avLst/>
            <a:gdLst/>
            <a:ahLst/>
            <a:cxnLst/>
            <a:rect l="l" t="t" r="r" b="b"/>
            <a:pathLst>
              <a:path w="17453088" h="9533749">
                <a:moveTo>
                  <a:pt x="0" y="0"/>
                </a:moveTo>
                <a:lnTo>
                  <a:pt x="17453088" y="0"/>
                </a:lnTo>
                <a:lnTo>
                  <a:pt x="17453088" y="9533749"/>
                </a:lnTo>
                <a:lnTo>
                  <a:pt x="0" y="95337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1226322"/>
            <a:ext cx="2221633" cy="2081987"/>
          </a:xfrm>
          <a:custGeom>
            <a:avLst/>
            <a:gdLst/>
            <a:ahLst/>
            <a:cxnLst/>
            <a:rect l="l" t="t" r="r" b="b"/>
            <a:pathLst>
              <a:path w="2221633" h="2081987">
                <a:moveTo>
                  <a:pt x="0" y="0"/>
                </a:moveTo>
                <a:lnTo>
                  <a:pt x="2221633" y="0"/>
                </a:lnTo>
                <a:lnTo>
                  <a:pt x="2221633" y="2081987"/>
                </a:lnTo>
                <a:lnTo>
                  <a:pt x="0" y="2081987"/>
                </a:lnTo>
                <a:lnTo>
                  <a:pt x="0" y="0"/>
                </a:lnTo>
                <a:close/>
              </a:path>
            </a:pathLst>
          </a:custGeom>
          <a:blipFill>
            <a:blip r:embed="rId4"/>
            <a:stretch>
              <a:fillRect/>
            </a:stretch>
          </a:blipFill>
        </p:spPr>
      </p:sp>
      <p:sp>
        <p:nvSpPr>
          <p:cNvPr id="4" name="TextBox 4"/>
          <p:cNvSpPr txBox="1"/>
          <p:nvPr/>
        </p:nvSpPr>
        <p:spPr>
          <a:xfrm>
            <a:off x="3646475" y="8268624"/>
            <a:ext cx="114498" cy="643257"/>
          </a:xfrm>
          <a:prstGeom prst="rect">
            <a:avLst/>
          </a:prstGeom>
        </p:spPr>
        <p:txBody>
          <a:bodyPr lIns="0" tIns="0" rIns="0" bIns="0" rtlCol="0" anchor="t">
            <a:spAutoFit/>
          </a:bodyPr>
          <a:lstStyle/>
          <a:p>
            <a:pPr algn="l">
              <a:lnSpc>
                <a:spcPts val="5034"/>
              </a:lnSpc>
            </a:pPr>
            <a:r>
              <a:rPr lang="en-US" sz="3603" b="1">
                <a:solidFill>
                  <a:srgbClr val="2A2E3A"/>
                </a:solidFill>
                <a:latin typeface="Times New Roman Bold"/>
                <a:ea typeface="Times New Roman Bold"/>
                <a:cs typeface="Times New Roman Bold"/>
                <a:sym typeface="Times New Roman Bold"/>
              </a:rPr>
              <a:t> </a:t>
            </a:r>
          </a:p>
        </p:txBody>
      </p:sp>
      <p:sp>
        <p:nvSpPr>
          <p:cNvPr id="5" name="TextBox 5"/>
          <p:cNvSpPr txBox="1"/>
          <p:nvPr/>
        </p:nvSpPr>
        <p:spPr>
          <a:xfrm>
            <a:off x="4154843" y="5117354"/>
            <a:ext cx="114498" cy="636478"/>
          </a:xfrm>
          <a:prstGeom prst="rect">
            <a:avLst/>
          </a:prstGeom>
        </p:spPr>
        <p:txBody>
          <a:bodyPr lIns="0" tIns="0" rIns="0" bIns="0" rtlCol="0" anchor="t">
            <a:spAutoFit/>
          </a:bodyPr>
          <a:lstStyle/>
          <a:p>
            <a:pPr algn="l">
              <a:lnSpc>
                <a:spcPts val="5013"/>
              </a:lnSpc>
            </a:pPr>
            <a:r>
              <a:rPr lang="en-US" sz="3603" b="1">
                <a:solidFill>
                  <a:srgbClr val="2A2E3A"/>
                </a:solidFill>
                <a:latin typeface="Times New Roman Bold"/>
                <a:ea typeface="Times New Roman Bold"/>
                <a:cs typeface="Times New Roman Bold"/>
                <a:sym typeface="Times New Roman Bold"/>
              </a:rPr>
              <a:t> </a:t>
            </a:r>
          </a:p>
        </p:txBody>
      </p:sp>
      <p:sp>
        <p:nvSpPr>
          <p:cNvPr id="6" name="TextBox 6"/>
          <p:cNvSpPr txBox="1"/>
          <p:nvPr/>
        </p:nvSpPr>
        <p:spPr>
          <a:xfrm>
            <a:off x="5194668" y="6379559"/>
            <a:ext cx="112812" cy="628227"/>
          </a:xfrm>
          <a:prstGeom prst="rect">
            <a:avLst/>
          </a:prstGeom>
        </p:spPr>
        <p:txBody>
          <a:bodyPr lIns="0" tIns="0" rIns="0" bIns="0" rtlCol="0" anchor="t">
            <a:spAutoFit/>
          </a:bodyPr>
          <a:lstStyle/>
          <a:p>
            <a:pPr algn="l">
              <a:lnSpc>
                <a:spcPts val="4940"/>
              </a:lnSpc>
            </a:pPr>
            <a:r>
              <a:rPr lang="en-US" sz="3551" b="1">
                <a:solidFill>
                  <a:srgbClr val="2A2E3A"/>
                </a:solidFill>
                <a:latin typeface="Times New Roman Bold"/>
                <a:ea typeface="Times New Roman Bold"/>
                <a:cs typeface="Times New Roman Bold"/>
                <a:sym typeface="Times New Roman Bold"/>
              </a:rPr>
              <a:t> </a:t>
            </a:r>
          </a:p>
        </p:txBody>
      </p:sp>
      <p:sp>
        <p:nvSpPr>
          <p:cNvPr id="7" name="TextBox 7"/>
          <p:cNvSpPr txBox="1"/>
          <p:nvPr/>
        </p:nvSpPr>
        <p:spPr>
          <a:xfrm>
            <a:off x="4751260" y="3213059"/>
            <a:ext cx="114498" cy="636936"/>
          </a:xfrm>
          <a:prstGeom prst="rect">
            <a:avLst/>
          </a:prstGeom>
        </p:spPr>
        <p:txBody>
          <a:bodyPr lIns="0" tIns="0" rIns="0" bIns="0" rtlCol="0" anchor="t">
            <a:spAutoFit/>
          </a:bodyPr>
          <a:lstStyle/>
          <a:p>
            <a:pPr algn="l">
              <a:lnSpc>
                <a:spcPts val="5009"/>
              </a:lnSpc>
            </a:pPr>
            <a:r>
              <a:rPr lang="en-US" sz="3603" b="1">
                <a:solidFill>
                  <a:srgbClr val="2A2E3A"/>
                </a:solidFill>
                <a:latin typeface="Times New Roman Bold"/>
                <a:ea typeface="Times New Roman Bold"/>
                <a:cs typeface="Times New Roman Bold"/>
                <a:sym typeface="Times New Roman Bold"/>
              </a:rPr>
              <a:t> </a:t>
            </a:r>
          </a:p>
        </p:txBody>
      </p:sp>
      <p:sp>
        <p:nvSpPr>
          <p:cNvPr id="8" name="TextBox 8"/>
          <p:cNvSpPr txBox="1"/>
          <p:nvPr/>
        </p:nvSpPr>
        <p:spPr>
          <a:xfrm>
            <a:off x="2472588" y="3771842"/>
            <a:ext cx="15815412" cy="1711376"/>
          </a:xfrm>
          <a:prstGeom prst="rect">
            <a:avLst/>
          </a:prstGeom>
        </p:spPr>
        <p:txBody>
          <a:bodyPr lIns="0" tIns="0" rIns="0" bIns="0" rtlCol="0" anchor="t">
            <a:spAutoFit/>
          </a:bodyPr>
          <a:lstStyle/>
          <a:p>
            <a:pPr algn="just">
              <a:lnSpc>
                <a:spcPts val="6669"/>
              </a:lnSpc>
            </a:pPr>
            <a:r>
              <a:rPr lang="en-US" sz="5600" b="1">
                <a:solidFill>
                  <a:srgbClr val="00327D"/>
                </a:solidFill>
                <a:latin typeface="Times New Roman Bold"/>
                <a:ea typeface="Times New Roman Bold"/>
                <a:cs typeface="Times New Roman Bold"/>
                <a:sym typeface="Times New Roman Bold"/>
              </a:rPr>
              <a:t>AI BASED AUTOMATIC EXAMINATION</a:t>
            </a:r>
          </a:p>
          <a:p>
            <a:pPr algn="just">
              <a:lnSpc>
                <a:spcPts val="6669"/>
              </a:lnSpc>
            </a:pPr>
            <a:r>
              <a:rPr lang="en-US" sz="5600" b="1">
                <a:solidFill>
                  <a:srgbClr val="00327D"/>
                </a:solidFill>
                <a:latin typeface="Times New Roman Bold"/>
                <a:ea typeface="Times New Roman Bold"/>
                <a:cs typeface="Times New Roman Bold"/>
                <a:sym typeface="Times New Roman Bold"/>
              </a:rPr>
              <a:t>        PAPER EVALUATION SYSTEM  </a:t>
            </a:r>
            <a:r>
              <a:rPr lang="en-US" sz="5600" b="1">
                <a:solidFill>
                  <a:srgbClr val="525A80"/>
                </a:solidFill>
                <a:latin typeface="Times New Roman Bold"/>
                <a:ea typeface="Times New Roman Bold"/>
                <a:cs typeface="Times New Roman Bold"/>
                <a:sym typeface="Times New Roman Bold"/>
              </a:rPr>
              <a:t>       </a:t>
            </a:r>
          </a:p>
        </p:txBody>
      </p:sp>
      <p:sp>
        <p:nvSpPr>
          <p:cNvPr id="9" name="TextBox 9"/>
          <p:cNvSpPr txBox="1"/>
          <p:nvPr/>
        </p:nvSpPr>
        <p:spPr>
          <a:xfrm>
            <a:off x="9822929" y="6012427"/>
            <a:ext cx="6823002" cy="2700909"/>
          </a:xfrm>
          <a:prstGeom prst="rect">
            <a:avLst/>
          </a:prstGeom>
        </p:spPr>
        <p:txBody>
          <a:bodyPr lIns="0" tIns="0" rIns="0" bIns="0" rtlCol="0" anchor="t">
            <a:spAutoFit/>
          </a:bodyPr>
          <a:lstStyle/>
          <a:p>
            <a:pPr algn="ctr">
              <a:lnSpc>
                <a:spcPts val="5328"/>
              </a:lnSpc>
            </a:pPr>
            <a:r>
              <a:rPr lang="en-US" sz="3600" b="1">
                <a:solidFill>
                  <a:srgbClr val="2A2E3A"/>
                </a:solidFill>
                <a:latin typeface="Times New Roman Bold"/>
                <a:ea typeface="Times New Roman Bold"/>
                <a:cs typeface="Times New Roman Bold"/>
                <a:sym typeface="Times New Roman Bold"/>
              </a:rPr>
              <a:t>T. Ramya Sai            228B1A0526</a:t>
            </a:r>
          </a:p>
          <a:p>
            <a:pPr algn="ctr">
              <a:lnSpc>
                <a:spcPts val="5328"/>
              </a:lnSpc>
            </a:pPr>
            <a:r>
              <a:rPr lang="en-US" sz="3600" b="1">
                <a:solidFill>
                  <a:srgbClr val="2A2E3A"/>
                </a:solidFill>
                <a:latin typeface="Times New Roman Bold"/>
                <a:ea typeface="Times New Roman Bold"/>
                <a:cs typeface="Times New Roman Bold"/>
                <a:sym typeface="Times New Roman Bold"/>
              </a:rPr>
              <a:t> S.Harika Devi          228B1A0519</a:t>
            </a:r>
          </a:p>
          <a:p>
            <a:pPr algn="ctr">
              <a:lnSpc>
                <a:spcPts val="5328"/>
              </a:lnSpc>
            </a:pPr>
            <a:r>
              <a:rPr lang="en-US" sz="3600" b="1">
                <a:solidFill>
                  <a:srgbClr val="2A2E3A"/>
                </a:solidFill>
                <a:latin typeface="Times New Roman Bold"/>
                <a:ea typeface="Times New Roman Bold"/>
                <a:cs typeface="Times New Roman Bold"/>
                <a:sym typeface="Times New Roman Bold"/>
              </a:rPr>
              <a:t>A. Teja Sri                228B1A0502</a:t>
            </a:r>
          </a:p>
          <a:p>
            <a:pPr algn="ctr">
              <a:lnSpc>
                <a:spcPts val="5328"/>
              </a:lnSpc>
            </a:pPr>
            <a:r>
              <a:rPr lang="en-US" sz="3600" b="1">
                <a:solidFill>
                  <a:srgbClr val="2A2E3A"/>
                </a:solidFill>
                <a:latin typeface="Times New Roman Bold"/>
                <a:ea typeface="Times New Roman Bold"/>
                <a:cs typeface="Times New Roman Bold"/>
                <a:sym typeface="Times New Roman Bold"/>
              </a:rPr>
              <a:t>P. Vijaya Sri             228B1A0517</a:t>
            </a:r>
          </a:p>
        </p:txBody>
      </p:sp>
      <p:sp>
        <p:nvSpPr>
          <p:cNvPr id="10" name="TextBox 10"/>
          <p:cNvSpPr txBox="1"/>
          <p:nvPr/>
        </p:nvSpPr>
        <p:spPr>
          <a:xfrm>
            <a:off x="2126776" y="6278400"/>
            <a:ext cx="5363468" cy="729386"/>
          </a:xfrm>
          <a:prstGeom prst="rect">
            <a:avLst/>
          </a:prstGeom>
        </p:spPr>
        <p:txBody>
          <a:bodyPr lIns="0" tIns="0" rIns="0" bIns="0" rtlCol="0" anchor="t">
            <a:spAutoFit/>
          </a:bodyPr>
          <a:lstStyle/>
          <a:p>
            <a:pPr algn="l">
              <a:lnSpc>
                <a:spcPts val="5896"/>
              </a:lnSpc>
            </a:pPr>
            <a:r>
              <a:rPr lang="en-US" sz="4200" b="1">
                <a:solidFill>
                  <a:srgbClr val="2A2E3A"/>
                </a:solidFill>
                <a:latin typeface="Times New Roman Bold"/>
                <a:ea typeface="Times New Roman Bold"/>
                <a:cs typeface="Times New Roman Bold"/>
                <a:sym typeface="Times New Roman Bold"/>
              </a:rPr>
              <a:t>Under the guidance of: </a:t>
            </a:r>
          </a:p>
        </p:txBody>
      </p:sp>
      <p:sp>
        <p:nvSpPr>
          <p:cNvPr id="11" name="TextBox 11"/>
          <p:cNvSpPr txBox="1"/>
          <p:nvPr/>
        </p:nvSpPr>
        <p:spPr>
          <a:xfrm>
            <a:off x="2472588" y="7207811"/>
            <a:ext cx="5017656" cy="1375334"/>
          </a:xfrm>
          <a:prstGeom prst="rect">
            <a:avLst/>
          </a:prstGeom>
        </p:spPr>
        <p:txBody>
          <a:bodyPr lIns="0" tIns="0" rIns="0" bIns="0" rtlCol="0" anchor="t">
            <a:spAutoFit/>
          </a:bodyPr>
          <a:lstStyle/>
          <a:p>
            <a:pPr algn="l">
              <a:lnSpc>
                <a:spcPts val="5896"/>
              </a:lnSpc>
            </a:pPr>
            <a:r>
              <a:rPr lang="en-US" sz="4200" b="1">
                <a:solidFill>
                  <a:srgbClr val="2A2E3A"/>
                </a:solidFill>
                <a:latin typeface="Times New Roman Bold"/>
                <a:ea typeface="Times New Roman Bold"/>
                <a:cs typeface="Times New Roman Bold"/>
                <a:sym typeface="Times New Roman Bold"/>
              </a:rPr>
              <a:t>    Mr. G. Gopi  </a:t>
            </a:r>
          </a:p>
          <a:p>
            <a:pPr algn="l">
              <a:lnSpc>
                <a:spcPts val="5054"/>
              </a:lnSpc>
            </a:pPr>
            <a:r>
              <a:rPr lang="en-US" sz="3600" b="1">
                <a:solidFill>
                  <a:srgbClr val="2A2E3A"/>
                </a:solidFill>
                <a:latin typeface="Times New Roman Bold"/>
                <a:ea typeface="Times New Roman Bold"/>
                <a:cs typeface="Times New Roman Bold"/>
                <a:sym typeface="Times New Roman Bold"/>
              </a:rPr>
              <a:t>(Assistant professor)</a:t>
            </a:r>
          </a:p>
        </p:txBody>
      </p:sp>
      <p:sp>
        <p:nvSpPr>
          <p:cNvPr id="12" name="TextBox 12"/>
          <p:cNvSpPr txBox="1"/>
          <p:nvPr/>
        </p:nvSpPr>
        <p:spPr>
          <a:xfrm>
            <a:off x="3397201" y="923925"/>
            <a:ext cx="13496106" cy="2584034"/>
          </a:xfrm>
          <a:prstGeom prst="rect">
            <a:avLst/>
          </a:prstGeom>
        </p:spPr>
        <p:txBody>
          <a:bodyPr lIns="0" tIns="0" rIns="0" bIns="0" rtlCol="0" anchor="t">
            <a:spAutoFit/>
          </a:bodyPr>
          <a:lstStyle/>
          <a:p>
            <a:pPr algn="ctr">
              <a:lnSpc>
                <a:spcPts val="5442"/>
              </a:lnSpc>
            </a:pPr>
            <a:r>
              <a:rPr lang="en-US" sz="3903" b="1">
                <a:solidFill>
                  <a:srgbClr val="FF3A3A"/>
                </a:solidFill>
                <a:latin typeface="Times New Roman Bold"/>
                <a:ea typeface="Times New Roman Bold"/>
                <a:cs typeface="Times New Roman Bold"/>
                <a:sym typeface="Times New Roman Bold"/>
              </a:rPr>
              <a:t>RISE KRISHNA SAI GANDHI GROUP OF INSTITUTIONS</a:t>
            </a:r>
          </a:p>
          <a:p>
            <a:pPr algn="ctr">
              <a:lnSpc>
                <a:spcPts val="5023"/>
              </a:lnSpc>
            </a:pPr>
            <a:r>
              <a:rPr lang="en-US" sz="3603" b="1">
                <a:solidFill>
                  <a:srgbClr val="007A3F"/>
                </a:solidFill>
                <a:latin typeface="Times New Roman Bold"/>
                <a:ea typeface="Times New Roman Bold"/>
                <a:cs typeface="Times New Roman Bold"/>
                <a:sym typeface="Times New Roman Bold"/>
              </a:rPr>
              <a:t>(Affiliated to JNTU, Kakinada)</a:t>
            </a:r>
          </a:p>
          <a:p>
            <a:pPr algn="ctr">
              <a:lnSpc>
                <a:spcPts val="5023"/>
              </a:lnSpc>
            </a:pPr>
            <a:r>
              <a:rPr lang="en-US" sz="3603" b="1">
                <a:solidFill>
                  <a:srgbClr val="00327D"/>
                </a:solidFill>
                <a:latin typeface="Times New Roman Bold"/>
                <a:ea typeface="Times New Roman Bold"/>
                <a:cs typeface="Times New Roman Bold"/>
                <a:sym typeface="Times New Roman Bold"/>
              </a:rPr>
              <a:t>DEPARTMENT OF COMPUTER SCIENCE &amp; ENGINEERING</a:t>
            </a:r>
          </a:p>
          <a:p>
            <a:pPr algn="ctr">
              <a:lnSpc>
                <a:spcPts val="5023"/>
              </a:lnSpc>
              <a:spcBef>
                <a:spcPct val="0"/>
              </a:spcBef>
            </a:pPr>
            <a:endParaRPr lang="en-US" sz="3603" b="1">
              <a:solidFill>
                <a:srgbClr val="00327D"/>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sp>
        <p:nvSpPr>
          <p:cNvPr id="2" name="Freeform 2"/>
          <p:cNvSpPr/>
          <p:nvPr/>
        </p:nvSpPr>
        <p:spPr>
          <a:xfrm>
            <a:off x="9525" y="0"/>
            <a:ext cx="18278475" cy="3771900"/>
          </a:xfrm>
          <a:custGeom>
            <a:avLst/>
            <a:gdLst/>
            <a:ahLst/>
            <a:cxnLst/>
            <a:rect l="l" t="t" r="r" b="b"/>
            <a:pathLst>
              <a:path w="18278475" h="3771900">
                <a:moveTo>
                  <a:pt x="0" y="0"/>
                </a:moveTo>
                <a:lnTo>
                  <a:pt x="18278475" y="0"/>
                </a:lnTo>
                <a:lnTo>
                  <a:pt x="18278475" y="3771900"/>
                </a:lnTo>
                <a:lnTo>
                  <a:pt x="0" y="3771900"/>
                </a:lnTo>
                <a:lnTo>
                  <a:pt x="0" y="0"/>
                </a:lnTo>
                <a:close/>
              </a:path>
            </a:pathLst>
          </a:custGeom>
          <a:blipFill>
            <a:blip r:embed="rId2">
              <a:alphaModFix amt="14000"/>
            </a:blip>
            <a:stretch>
              <a:fillRect t="-90233" r="-52" b="-132793"/>
            </a:stretch>
          </a:blipFill>
        </p:spPr>
      </p:sp>
      <p:sp>
        <p:nvSpPr>
          <p:cNvPr id="3" name="Freeform 3"/>
          <p:cNvSpPr/>
          <p:nvPr/>
        </p:nvSpPr>
        <p:spPr>
          <a:xfrm>
            <a:off x="-63503" y="-63503"/>
            <a:ext cx="18414997" cy="10413997"/>
          </a:xfrm>
          <a:custGeom>
            <a:avLst/>
            <a:gdLst/>
            <a:ahLst/>
            <a:cxnLst/>
            <a:rect l="l" t="t" r="r" b="b"/>
            <a:pathLst>
              <a:path w="18414997" h="10413997">
                <a:moveTo>
                  <a:pt x="0" y="0"/>
                </a:moveTo>
                <a:lnTo>
                  <a:pt x="18414997" y="0"/>
                </a:lnTo>
                <a:lnTo>
                  <a:pt x="18414997" y="10413997"/>
                </a:lnTo>
                <a:lnTo>
                  <a:pt x="0" y="104139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698542" y="1403995"/>
            <a:ext cx="4988347" cy="1208113"/>
          </a:xfrm>
          <a:prstGeom prst="rect">
            <a:avLst/>
          </a:prstGeom>
        </p:spPr>
        <p:txBody>
          <a:bodyPr lIns="0" tIns="0" rIns="0" bIns="0" rtlCol="0" anchor="t">
            <a:spAutoFit/>
          </a:bodyPr>
          <a:lstStyle/>
          <a:p>
            <a:pPr algn="l">
              <a:lnSpc>
                <a:spcPts val="9799"/>
              </a:lnSpc>
            </a:pPr>
            <a:r>
              <a:rPr lang="en-US" sz="6999" b="1">
                <a:solidFill>
                  <a:srgbClr val="FFFFFF"/>
                </a:solidFill>
                <a:latin typeface="Times New Roman Bold"/>
                <a:ea typeface="Times New Roman Bold"/>
                <a:cs typeface="Times New Roman Bold"/>
                <a:sym typeface="Times New Roman Bold"/>
              </a:rPr>
              <a:t>CONTENTS</a:t>
            </a:r>
          </a:p>
        </p:txBody>
      </p:sp>
      <p:sp>
        <p:nvSpPr>
          <p:cNvPr id="5" name="TextBox 5"/>
          <p:cNvSpPr txBox="1"/>
          <p:nvPr/>
        </p:nvSpPr>
        <p:spPr>
          <a:xfrm>
            <a:off x="2051752" y="4421591"/>
            <a:ext cx="349758" cy="3234538"/>
          </a:xfrm>
          <a:prstGeom prst="rect">
            <a:avLst/>
          </a:prstGeom>
        </p:spPr>
        <p:txBody>
          <a:bodyPr lIns="0" tIns="0" rIns="0" bIns="0" rtlCol="0" anchor="t">
            <a:spAutoFit/>
          </a:bodyPr>
          <a:lstStyle/>
          <a:p>
            <a:pPr algn="just">
              <a:lnSpc>
                <a:spcPts val="6451"/>
              </a:lnSpc>
            </a:pPr>
            <a:r>
              <a:rPr lang="en-US" sz="3600">
                <a:solidFill>
                  <a:srgbClr val="000000"/>
                </a:solidFill>
                <a:latin typeface="Times New Roman"/>
                <a:ea typeface="Times New Roman"/>
                <a:cs typeface="Times New Roman"/>
                <a:sym typeface="Times New Roman"/>
              </a:rPr>
              <a:t>1. 2. 3.</a:t>
            </a:r>
          </a:p>
          <a:p>
            <a:pPr algn="just">
              <a:lnSpc>
                <a:spcPts val="6451"/>
              </a:lnSpc>
            </a:pPr>
            <a:r>
              <a:rPr lang="en-US" sz="3600">
                <a:solidFill>
                  <a:srgbClr val="000000"/>
                </a:solidFill>
                <a:latin typeface="Times New Roman"/>
                <a:ea typeface="Times New Roman"/>
                <a:cs typeface="Times New Roman"/>
                <a:sym typeface="Times New Roman"/>
              </a:rPr>
              <a:t>4.</a:t>
            </a:r>
          </a:p>
        </p:txBody>
      </p:sp>
      <p:sp>
        <p:nvSpPr>
          <p:cNvPr id="6" name="TextBox 6"/>
          <p:cNvSpPr txBox="1"/>
          <p:nvPr/>
        </p:nvSpPr>
        <p:spPr>
          <a:xfrm>
            <a:off x="10760745" y="4422419"/>
            <a:ext cx="512950" cy="776259"/>
          </a:xfrm>
          <a:prstGeom prst="rect">
            <a:avLst/>
          </a:prstGeom>
        </p:spPr>
        <p:txBody>
          <a:bodyPr lIns="0" tIns="0" rIns="0" bIns="0" rtlCol="0" anchor="t">
            <a:spAutoFit/>
          </a:bodyPr>
          <a:lstStyle/>
          <a:p>
            <a:pPr algn="l">
              <a:lnSpc>
                <a:spcPts val="6451"/>
              </a:lnSpc>
            </a:pPr>
            <a:r>
              <a:rPr lang="en-US" sz="3600" spc="179">
                <a:solidFill>
                  <a:srgbClr val="000000"/>
                </a:solidFill>
                <a:latin typeface="Times New Roman"/>
                <a:ea typeface="Times New Roman"/>
                <a:cs typeface="Times New Roman"/>
                <a:sym typeface="Times New Roman"/>
              </a:rPr>
              <a:t>5.</a:t>
            </a:r>
            <a:r>
              <a:rPr lang="en-US" sz="3600" b="1" spc="179">
                <a:solidFill>
                  <a:srgbClr val="000000"/>
                </a:solidFill>
                <a:latin typeface="Times New Roman Bold"/>
                <a:ea typeface="Times New Roman Bold"/>
                <a:cs typeface="Times New Roman Bold"/>
                <a:sym typeface="Times New Roman Bold"/>
              </a:rPr>
              <a:t> </a:t>
            </a:r>
          </a:p>
        </p:txBody>
      </p:sp>
      <p:sp>
        <p:nvSpPr>
          <p:cNvPr id="7" name="TextBox 7"/>
          <p:cNvSpPr txBox="1"/>
          <p:nvPr/>
        </p:nvSpPr>
        <p:spPr>
          <a:xfrm>
            <a:off x="10760745" y="5924560"/>
            <a:ext cx="349758" cy="766658"/>
          </a:xfrm>
          <a:prstGeom prst="rect">
            <a:avLst/>
          </a:prstGeom>
        </p:spPr>
        <p:txBody>
          <a:bodyPr lIns="0" tIns="0" rIns="0" bIns="0" rtlCol="0" anchor="t">
            <a:spAutoFit/>
          </a:bodyPr>
          <a:lstStyle/>
          <a:p>
            <a:pPr algn="l">
              <a:lnSpc>
                <a:spcPts val="6451"/>
              </a:lnSpc>
            </a:pPr>
            <a:r>
              <a:rPr lang="en-US" sz="3600">
                <a:solidFill>
                  <a:srgbClr val="000000"/>
                </a:solidFill>
                <a:latin typeface="Times New Roman"/>
                <a:ea typeface="Times New Roman"/>
                <a:cs typeface="Times New Roman"/>
                <a:sym typeface="Times New Roman"/>
              </a:rPr>
              <a:t>6.</a:t>
            </a:r>
          </a:p>
        </p:txBody>
      </p:sp>
      <p:sp>
        <p:nvSpPr>
          <p:cNvPr id="8" name="TextBox 8"/>
          <p:cNvSpPr txBox="1"/>
          <p:nvPr/>
        </p:nvSpPr>
        <p:spPr>
          <a:xfrm>
            <a:off x="10760745" y="6879869"/>
            <a:ext cx="512950" cy="776259"/>
          </a:xfrm>
          <a:prstGeom prst="rect">
            <a:avLst/>
          </a:prstGeom>
        </p:spPr>
        <p:txBody>
          <a:bodyPr lIns="0" tIns="0" rIns="0" bIns="0" rtlCol="0" anchor="t">
            <a:spAutoFit/>
          </a:bodyPr>
          <a:lstStyle/>
          <a:p>
            <a:pPr algn="l">
              <a:lnSpc>
                <a:spcPts val="6451"/>
              </a:lnSpc>
            </a:pPr>
            <a:r>
              <a:rPr lang="en-US" sz="3600" spc="179">
                <a:solidFill>
                  <a:srgbClr val="000000"/>
                </a:solidFill>
                <a:latin typeface="Times New Roman"/>
                <a:ea typeface="Times New Roman"/>
                <a:cs typeface="Times New Roman"/>
                <a:sym typeface="Times New Roman"/>
              </a:rPr>
              <a:t>7.</a:t>
            </a:r>
            <a:r>
              <a:rPr lang="en-US" sz="3600" b="1" spc="179">
                <a:solidFill>
                  <a:srgbClr val="000000"/>
                </a:solidFill>
                <a:latin typeface="Times New Roman Bold"/>
                <a:ea typeface="Times New Roman Bold"/>
                <a:cs typeface="Times New Roman Bold"/>
                <a:sym typeface="Times New Roman Bold"/>
              </a:rPr>
              <a:t> </a:t>
            </a:r>
          </a:p>
        </p:txBody>
      </p:sp>
      <p:sp>
        <p:nvSpPr>
          <p:cNvPr id="9" name="TextBox 9"/>
          <p:cNvSpPr txBox="1"/>
          <p:nvPr/>
        </p:nvSpPr>
        <p:spPr>
          <a:xfrm>
            <a:off x="2553910" y="4459643"/>
            <a:ext cx="5143262" cy="2415388"/>
          </a:xfrm>
          <a:prstGeom prst="rect">
            <a:avLst/>
          </a:prstGeom>
        </p:spPr>
        <p:txBody>
          <a:bodyPr lIns="0" tIns="0" rIns="0" bIns="0" rtlCol="0" anchor="t">
            <a:spAutoFit/>
          </a:bodyPr>
          <a:lstStyle/>
          <a:p>
            <a:pPr algn="l">
              <a:lnSpc>
                <a:spcPts val="6451"/>
              </a:lnSpc>
            </a:pPr>
            <a:r>
              <a:rPr lang="en-US" sz="3600" b="1">
                <a:solidFill>
                  <a:srgbClr val="000000"/>
                </a:solidFill>
                <a:latin typeface="Times New Roman Bold"/>
                <a:ea typeface="Times New Roman Bold"/>
                <a:cs typeface="Times New Roman Bold"/>
                <a:sym typeface="Times New Roman Bold"/>
              </a:rPr>
              <a:t>ABSTRACT</a:t>
            </a:r>
          </a:p>
          <a:p>
            <a:pPr algn="l">
              <a:lnSpc>
                <a:spcPts val="6451"/>
              </a:lnSpc>
            </a:pPr>
            <a:r>
              <a:rPr lang="en-US" sz="3600" b="1">
                <a:solidFill>
                  <a:srgbClr val="000000"/>
                </a:solidFill>
                <a:latin typeface="Times New Roman Bold"/>
                <a:ea typeface="Times New Roman Bold"/>
                <a:cs typeface="Times New Roman Bold"/>
                <a:sym typeface="Times New Roman Bold"/>
              </a:rPr>
              <a:t>INTRODUCTION                  EXISTING SYSTEM</a:t>
            </a:r>
          </a:p>
        </p:txBody>
      </p:sp>
      <p:sp>
        <p:nvSpPr>
          <p:cNvPr id="10" name="TextBox 10"/>
          <p:cNvSpPr txBox="1"/>
          <p:nvPr/>
        </p:nvSpPr>
        <p:spPr>
          <a:xfrm>
            <a:off x="2553910" y="6889471"/>
            <a:ext cx="4573495" cy="766658"/>
          </a:xfrm>
          <a:prstGeom prst="rect">
            <a:avLst/>
          </a:prstGeom>
        </p:spPr>
        <p:txBody>
          <a:bodyPr lIns="0" tIns="0" rIns="0" bIns="0" rtlCol="0" anchor="t">
            <a:spAutoFit/>
          </a:bodyPr>
          <a:lstStyle/>
          <a:p>
            <a:pPr algn="l">
              <a:lnSpc>
                <a:spcPts val="6451"/>
              </a:lnSpc>
            </a:pPr>
            <a:r>
              <a:rPr lang="en-US" sz="3600" b="1">
                <a:solidFill>
                  <a:srgbClr val="000000"/>
                </a:solidFill>
                <a:latin typeface="Times New Roman Bold"/>
                <a:ea typeface="Times New Roman Bold"/>
                <a:cs typeface="Times New Roman Bold"/>
                <a:sym typeface="Times New Roman Bold"/>
              </a:rPr>
              <a:t>PROPOSED SYSTEM</a:t>
            </a:r>
          </a:p>
        </p:txBody>
      </p:sp>
      <p:sp>
        <p:nvSpPr>
          <p:cNvPr id="11" name="TextBox 11"/>
          <p:cNvSpPr txBox="1"/>
          <p:nvPr/>
        </p:nvSpPr>
        <p:spPr>
          <a:xfrm>
            <a:off x="11263636" y="4432021"/>
            <a:ext cx="7024364" cy="1596238"/>
          </a:xfrm>
          <a:prstGeom prst="rect">
            <a:avLst/>
          </a:prstGeom>
        </p:spPr>
        <p:txBody>
          <a:bodyPr lIns="0" tIns="0" rIns="0" bIns="0" rtlCol="0" anchor="t">
            <a:spAutoFit/>
          </a:bodyPr>
          <a:lstStyle/>
          <a:p>
            <a:pPr algn="l">
              <a:lnSpc>
                <a:spcPts val="6451"/>
              </a:lnSpc>
            </a:pPr>
            <a:r>
              <a:rPr lang="en-US" sz="3600" b="1">
                <a:solidFill>
                  <a:srgbClr val="000000"/>
                </a:solidFill>
                <a:latin typeface="Times New Roman Bold"/>
                <a:ea typeface="Times New Roman Bold"/>
                <a:cs typeface="Times New Roman Bold"/>
                <a:sym typeface="Times New Roman Bold"/>
              </a:rPr>
              <a:t>SRS (System Requirements Specification)</a:t>
            </a:r>
          </a:p>
        </p:txBody>
      </p:sp>
      <p:sp>
        <p:nvSpPr>
          <p:cNvPr id="12" name="TextBox 12"/>
          <p:cNvSpPr txBox="1"/>
          <p:nvPr/>
        </p:nvSpPr>
        <p:spPr>
          <a:xfrm>
            <a:off x="11273695" y="5962612"/>
            <a:ext cx="5890936" cy="1596238"/>
          </a:xfrm>
          <a:prstGeom prst="rect">
            <a:avLst/>
          </a:prstGeom>
        </p:spPr>
        <p:txBody>
          <a:bodyPr lIns="0" tIns="0" rIns="0" bIns="0" rtlCol="0" anchor="t">
            <a:spAutoFit/>
          </a:bodyPr>
          <a:lstStyle/>
          <a:p>
            <a:pPr algn="l">
              <a:lnSpc>
                <a:spcPts val="6451"/>
              </a:lnSpc>
            </a:pPr>
            <a:r>
              <a:rPr lang="en-US" sz="3600" b="1">
                <a:solidFill>
                  <a:srgbClr val="000000"/>
                </a:solidFill>
                <a:latin typeface="Times New Roman Bold"/>
                <a:ea typeface="Times New Roman Bold"/>
                <a:cs typeface="Times New Roman Bold"/>
                <a:sym typeface="Times New Roman Bold"/>
              </a:rPr>
              <a:t>ARCHITECTURE</a:t>
            </a:r>
          </a:p>
          <a:p>
            <a:pPr algn="l">
              <a:lnSpc>
                <a:spcPts val="6451"/>
              </a:lnSpc>
            </a:pPr>
            <a:endParaRPr lang="en-US" sz="3600" b="1">
              <a:solidFill>
                <a:srgbClr val="000000"/>
              </a:solidFill>
              <a:latin typeface="Times New Roman Bold"/>
              <a:ea typeface="Times New Roman Bold"/>
              <a:cs typeface="Times New Roman Bold"/>
              <a:sym typeface="Times New Roman Bold"/>
            </a:endParaRPr>
          </a:p>
        </p:txBody>
      </p:sp>
      <p:sp>
        <p:nvSpPr>
          <p:cNvPr id="13" name="TextBox 13"/>
          <p:cNvSpPr txBox="1"/>
          <p:nvPr/>
        </p:nvSpPr>
        <p:spPr>
          <a:xfrm>
            <a:off x="11263636" y="6889471"/>
            <a:ext cx="5117944" cy="766658"/>
          </a:xfrm>
          <a:prstGeom prst="rect">
            <a:avLst/>
          </a:prstGeom>
        </p:spPr>
        <p:txBody>
          <a:bodyPr lIns="0" tIns="0" rIns="0" bIns="0" rtlCol="0" anchor="t">
            <a:spAutoFit/>
          </a:bodyPr>
          <a:lstStyle/>
          <a:p>
            <a:pPr algn="l">
              <a:lnSpc>
                <a:spcPts val="6451"/>
              </a:lnSpc>
            </a:pPr>
            <a:r>
              <a:rPr lang="en-US" sz="3600" b="1">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18697" y="461639"/>
            <a:ext cx="4050606" cy="991248"/>
          </a:xfrm>
          <a:prstGeom prst="rect">
            <a:avLst/>
          </a:prstGeom>
        </p:spPr>
        <p:txBody>
          <a:bodyPr lIns="0" tIns="0" rIns="0" bIns="0" rtlCol="0" anchor="t">
            <a:spAutoFit/>
          </a:bodyPr>
          <a:lstStyle/>
          <a:p>
            <a:pPr algn="l">
              <a:lnSpc>
                <a:spcPts val="7839"/>
              </a:lnSpc>
            </a:pPr>
            <a:r>
              <a:rPr lang="en-US" sz="5599" b="1" u="sng">
                <a:solidFill>
                  <a:srgbClr val="2A2E3A"/>
                </a:solidFill>
                <a:latin typeface="Times New Roman Bold"/>
                <a:ea typeface="Times New Roman Bold"/>
                <a:cs typeface="Times New Roman Bold"/>
                <a:sym typeface="Times New Roman Bold"/>
              </a:rPr>
              <a:t> ABSTRACT</a:t>
            </a:r>
          </a:p>
        </p:txBody>
      </p:sp>
      <p:sp>
        <p:nvSpPr>
          <p:cNvPr id="3" name="TextBox 3"/>
          <p:cNvSpPr txBox="1"/>
          <p:nvPr/>
        </p:nvSpPr>
        <p:spPr>
          <a:xfrm>
            <a:off x="1560450" y="1736598"/>
            <a:ext cx="15167099" cy="7931860"/>
          </a:xfrm>
          <a:prstGeom prst="rect">
            <a:avLst/>
          </a:prstGeom>
        </p:spPr>
        <p:txBody>
          <a:bodyPr lIns="0" tIns="0" rIns="0" bIns="0" rtlCol="0" anchor="t">
            <a:spAutoFit/>
          </a:bodyPr>
          <a:lstStyle/>
          <a:p>
            <a:pPr algn="just">
              <a:lnSpc>
                <a:spcPts val="5734"/>
              </a:lnSpc>
              <a:spcBef>
                <a:spcPct val="0"/>
              </a:spcBef>
            </a:pPr>
            <a:r>
              <a:rPr lang="en-US" sz="3200">
                <a:solidFill>
                  <a:srgbClr val="2A2E3A"/>
                </a:solidFill>
                <a:latin typeface="Times New Roman"/>
                <a:ea typeface="Times New Roman"/>
                <a:cs typeface="Times New Roman"/>
                <a:sym typeface="Times New Roman"/>
              </a:rPr>
              <a:t>Manual evaluation of subjective answer papers is time-consuming and tiring. Artificial Intelligence can be used to automate this process. Most existing systems rely on keyword matching and word count methods, which fail to capture the actual meaning of answers. Another challenge is the lack of well-curated datasets. This paper proposes an automatic evaluation system using machine learning and natural language processing techniques. Tools such as WordNet, Word2Vec, and TF-IDF are used for text representation. Similarity measures like cosine similarity and Word Mover’s Distance are applied to compare answers. Student responses are evaluated against solution statements and key concepts. Experimental results show that Word Mover’s Distance performs better than cosine similarity. The system achieved 88% accuracy without using Multinomial Naïve Bayes. Including Naïve Bayes further reduced the error rate.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50500" y="1487548"/>
            <a:ext cx="7474344" cy="8078657"/>
            <a:chOff x="0" y="0"/>
            <a:chExt cx="9965792" cy="10771543"/>
          </a:xfrm>
        </p:grpSpPr>
        <p:sp>
          <p:nvSpPr>
            <p:cNvPr id="3" name="Freeform 3"/>
            <p:cNvSpPr/>
            <p:nvPr/>
          </p:nvSpPr>
          <p:spPr>
            <a:xfrm>
              <a:off x="0" y="0"/>
              <a:ext cx="9965817" cy="10771505"/>
            </a:xfrm>
            <a:custGeom>
              <a:avLst/>
              <a:gdLst/>
              <a:ahLst/>
              <a:cxnLst/>
              <a:rect l="l" t="t" r="r" b="b"/>
              <a:pathLst>
                <a:path w="9965817" h="10771505">
                  <a:moveTo>
                    <a:pt x="4979797" y="0"/>
                  </a:moveTo>
                  <a:cubicBezTo>
                    <a:pt x="2229231" y="1778"/>
                    <a:pt x="0" y="2412365"/>
                    <a:pt x="0" y="5385816"/>
                  </a:cubicBezTo>
                  <a:cubicBezTo>
                    <a:pt x="0" y="8360283"/>
                    <a:pt x="2230882" y="10771505"/>
                    <a:pt x="4982845" y="10771505"/>
                  </a:cubicBezTo>
                  <a:cubicBezTo>
                    <a:pt x="7734808" y="10771505"/>
                    <a:pt x="9965817" y="8360283"/>
                    <a:pt x="9965817" y="5385816"/>
                  </a:cubicBezTo>
                  <a:cubicBezTo>
                    <a:pt x="9965817" y="2412365"/>
                    <a:pt x="7736586" y="1778"/>
                    <a:pt x="4986020" y="0"/>
                  </a:cubicBezTo>
                  <a:close/>
                </a:path>
              </a:pathLst>
            </a:custGeom>
            <a:blipFill>
              <a:blip r:embed="rId2"/>
              <a:stretch>
                <a:fillRect l="-30974" r="-31134" b="-109"/>
              </a:stretch>
            </a:blipFill>
          </p:spPr>
        </p:sp>
      </p:grpSp>
      <p:grpSp>
        <p:nvGrpSpPr>
          <p:cNvPr id="4" name="Group 4"/>
          <p:cNvGrpSpPr/>
          <p:nvPr/>
        </p:nvGrpSpPr>
        <p:grpSpPr>
          <a:xfrm>
            <a:off x="400050" y="1679953"/>
            <a:ext cx="114300" cy="114300"/>
            <a:chOff x="0" y="0"/>
            <a:chExt cx="114300" cy="114300"/>
          </a:xfrm>
        </p:grpSpPr>
        <p:sp>
          <p:nvSpPr>
            <p:cNvPr id="5" name="Freeform 5"/>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2A2E3A"/>
            </a:solidFill>
            <a:ln w="12700">
              <a:solidFill>
                <a:srgbClr val="000000"/>
              </a:solidFill>
            </a:ln>
          </p:spPr>
        </p:sp>
      </p:grpSp>
      <p:grpSp>
        <p:nvGrpSpPr>
          <p:cNvPr id="6" name="Group 6"/>
          <p:cNvGrpSpPr/>
          <p:nvPr/>
        </p:nvGrpSpPr>
        <p:grpSpPr>
          <a:xfrm>
            <a:off x="400050" y="6166228"/>
            <a:ext cx="114300" cy="114300"/>
            <a:chOff x="0" y="0"/>
            <a:chExt cx="114300" cy="114300"/>
          </a:xfrm>
        </p:grpSpPr>
        <p:sp>
          <p:nvSpPr>
            <p:cNvPr id="7" name="Freeform 7"/>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423"/>
                    <a:pt x="4318" y="78994"/>
                  </a:cubicBezTo>
                  <a:cubicBezTo>
                    <a:pt x="2794" y="75565"/>
                    <a:pt x="1778" y="72009"/>
                    <a:pt x="1016" y="68326"/>
                  </a:cubicBezTo>
                  <a:cubicBezTo>
                    <a:pt x="254"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2A2E3A"/>
            </a:solidFill>
            <a:ln w="12700">
              <a:solidFill>
                <a:srgbClr val="000000"/>
              </a:solidFill>
            </a:ln>
          </p:spPr>
        </p:sp>
      </p:grpSp>
      <p:grpSp>
        <p:nvGrpSpPr>
          <p:cNvPr id="8" name="Group 8"/>
          <p:cNvGrpSpPr/>
          <p:nvPr/>
        </p:nvGrpSpPr>
        <p:grpSpPr>
          <a:xfrm>
            <a:off x="400050" y="6890128"/>
            <a:ext cx="114300" cy="114300"/>
            <a:chOff x="0" y="0"/>
            <a:chExt cx="114300" cy="114300"/>
          </a:xfrm>
        </p:grpSpPr>
        <p:sp>
          <p:nvSpPr>
            <p:cNvPr id="9" name="Freeform 9"/>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423"/>
                    <a:pt x="4318" y="78994"/>
                  </a:cubicBezTo>
                  <a:cubicBezTo>
                    <a:pt x="2794" y="75565"/>
                    <a:pt x="1778" y="72009"/>
                    <a:pt x="1016" y="68326"/>
                  </a:cubicBezTo>
                  <a:cubicBezTo>
                    <a:pt x="254"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2A2E3A"/>
            </a:solidFill>
            <a:ln w="12700">
              <a:solidFill>
                <a:srgbClr val="000000"/>
              </a:solidFill>
            </a:ln>
          </p:spPr>
        </p:sp>
      </p:grpSp>
      <p:grpSp>
        <p:nvGrpSpPr>
          <p:cNvPr id="10" name="Group 10"/>
          <p:cNvGrpSpPr/>
          <p:nvPr/>
        </p:nvGrpSpPr>
        <p:grpSpPr>
          <a:xfrm>
            <a:off x="400050" y="8337928"/>
            <a:ext cx="114300" cy="114300"/>
            <a:chOff x="0" y="0"/>
            <a:chExt cx="114300" cy="114300"/>
          </a:xfrm>
        </p:grpSpPr>
        <p:sp>
          <p:nvSpPr>
            <p:cNvPr id="11" name="Freeform 11"/>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423"/>
                    <a:pt x="4318" y="78994"/>
                  </a:cubicBezTo>
                  <a:cubicBezTo>
                    <a:pt x="2794" y="75565"/>
                    <a:pt x="1778" y="72009"/>
                    <a:pt x="1016" y="68326"/>
                  </a:cubicBezTo>
                  <a:cubicBezTo>
                    <a:pt x="254"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2A2E3A"/>
            </a:solidFill>
            <a:ln w="12700">
              <a:solidFill>
                <a:srgbClr val="000000"/>
              </a:solidFill>
            </a:ln>
          </p:spPr>
        </p:sp>
      </p:grpSp>
      <p:grpSp>
        <p:nvGrpSpPr>
          <p:cNvPr id="12" name="Group 12"/>
          <p:cNvGrpSpPr/>
          <p:nvPr/>
        </p:nvGrpSpPr>
        <p:grpSpPr>
          <a:xfrm>
            <a:off x="419100" y="3880228"/>
            <a:ext cx="123825" cy="123825"/>
            <a:chOff x="0" y="0"/>
            <a:chExt cx="123825" cy="123825"/>
          </a:xfrm>
        </p:grpSpPr>
        <p:sp>
          <p:nvSpPr>
            <p:cNvPr id="13" name="Freeform 13"/>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2A2E3A"/>
            </a:solidFill>
            <a:ln w="12700">
              <a:solidFill>
                <a:srgbClr val="000000"/>
              </a:solidFill>
            </a:ln>
          </p:spPr>
        </p:sp>
      </p:grpSp>
      <p:grpSp>
        <p:nvGrpSpPr>
          <p:cNvPr id="14" name="Group 14"/>
          <p:cNvGrpSpPr/>
          <p:nvPr/>
        </p:nvGrpSpPr>
        <p:grpSpPr>
          <a:xfrm>
            <a:off x="6215967" y="1150944"/>
            <a:ext cx="5539235" cy="66675"/>
            <a:chOff x="0" y="0"/>
            <a:chExt cx="5539232" cy="66675"/>
          </a:xfrm>
        </p:grpSpPr>
        <p:sp>
          <p:nvSpPr>
            <p:cNvPr id="15" name="Freeform 15"/>
            <p:cNvSpPr/>
            <p:nvPr/>
          </p:nvSpPr>
          <p:spPr>
            <a:xfrm>
              <a:off x="0" y="0"/>
              <a:ext cx="5539230" cy="66675"/>
            </a:xfrm>
            <a:custGeom>
              <a:avLst/>
              <a:gdLst/>
              <a:ahLst/>
              <a:cxnLst/>
              <a:rect l="l" t="t" r="r" b="b"/>
              <a:pathLst>
                <a:path w="5539230" h="66675">
                  <a:moveTo>
                    <a:pt x="0" y="0"/>
                  </a:moveTo>
                  <a:lnTo>
                    <a:pt x="5539230" y="0"/>
                  </a:lnTo>
                  <a:lnTo>
                    <a:pt x="5539230" y="66675"/>
                  </a:lnTo>
                  <a:lnTo>
                    <a:pt x="0" y="66675"/>
                  </a:lnTo>
                  <a:close/>
                </a:path>
              </a:pathLst>
            </a:custGeom>
            <a:solidFill>
              <a:srgbClr val="2A2E3A"/>
            </a:solidFill>
            <a:ln w="12700">
              <a:solidFill>
                <a:srgbClr val="000000"/>
              </a:solidFill>
            </a:ln>
          </p:spPr>
        </p:sp>
      </p:grpSp>
      <p:sp>
        <p:nvSpPr>
          <p:cNvPr id="16" name="TextBox 16"/>
          <p:cNvSpPr txBox="1"/>
          <p:nvPr/>
        </p:nvSpPr>
        <p:spPr>
          <a:xfrm>
            <a:off x="6215967" y="438750"/>
            <a:ext cx="5689799" cy="882980"/>
          </a:xfrm>
          <a:prstGeom prst="rect">
            <a:avLst/>
          </a:prstGeom>
        </p:spPr>
        <p:txBody>
          <a:bodyPr lIns="0" tIns="0" rIns="0" bIns="0" rtlCol="0" anchor="t">
            <a:spAutoFit/>
          </a:bodyPr>
          <a:lstStyle/>
          <a:p>
            <a:pPr algn="l">
              <a:lnSpc>
                <a:spcPts val="6741"/>
              </a:lnSpc>
            </a:pPr>
            <a:r>
              <a:rPr lang="en-US" sz="5599" b="1">
                <a:solidFill>
                  <a:srgbClr val="2A2E3A"/>
                </a:solidFill>
                <a:latin typeface="Times New Roman Bold"/>
                <a:ea typeface="Times New Roman Bold"/>
                <a:cs typeface="Times New Roman Bold"/>
                <a:sym typeface="Times New Roman Bold"/>
              </a:rPr>
              <a:t>INTRODUCTION</a:t>
            </a:r>
          </a:p>
        </p:txBody>
      </p:sp>
      <p:sp>
        <p:nvSpPr>
          <p:cNvPr id="17" name="TextBox 17"/>
          <p:cNvSpPr txBox="1"/>
          <p:nvPr/>
        </p:nvSpPr>
        <p:spPr>
          <a:xfrm>
            <a:off x="7132749" y="1159478"/>
            <a:ext cx="103613" cy="830628"/>
          </a:xfrm>
          <a:prstGeom prst="rect">
            <a:avLst/>
          </a:prstGeom>
        </p:spPr>
        <p:txBody>
          <a:bodyPr lIns="0" tIns="0" rIns="0" bIns="0" rtlCol="0" anchor="t">
            <a:spAutoFit/>
          </a:bodyPr>
          <a:lstStyle/>
          <a:p>
            <a:pPr algn="l">
              <a:lnSpc>
                <a:spcPts val="7288"/>
              </a:lnSpc>
            </a:pPr>
            <a:r>
              <a:rPr lang="en-US" sz="3199">
                <a:solidFill>
                  <a:srgbClr val="2A2E3A"/>
                </a:solidFill>
                <a:latin typeface="Times New Roman"/>
                <a:ea typeface="Times New Roman"/>
                <a:cs typeface="Times New Roman"/>
                <a:sym typeface="Times New Roman"/>
              </a:rPr>
              <a:t> </a:t>
            </a:r>
          </a:p>
        </p:txBody>
      </p:sp>
      <p:sp>
        <p:nvSpPr>
          <p:cNvPr id="18" name="TextBox 18"/>
          <p:cNvSpPr txBox="1"/>
          <p:nvPr/>
        </p:nvSpPr>
        <p:spPr>
          <a:xfrm>
            <a:off x="690858" y="1302353"/>
            <a:ext cx="8191500" cy="696962"/>
          </a:xfrm>
          <a:prstGeom prst="rect">
            <a:avLst/>
          </a:prstGeom>
        </p:spPr>
        <p:txBody>
          <a:bodyPr lIns="0" tIns="0" rIns="0" bIns="0" rtlCol="0" anchor="t">
            <a:spAutoFit/>
          </a:bodyPr>
          <a:lstStyle/>
          <a:p>
            <a:pPr algn="l">
              <a:lnSpc>
                <a:spcPts val="5701"/>
              </a:lnSpc>
            </a:pPr>
            <a:r>
              <a:rPr lang="en-US" sz="3199">
                <a:solidFill>
                  <a:srgbClr val="2A2E3A"/>
                </a:solidFill>
                <a:latin typeface="Times New Roman"/>
                <a:ea typeface="Times New Roman"/>
                <a:cs typeface="Times New Roman"/>
                <a:sym typeface="Times New Roman"/>
              </a:rPr>
              <a:t>The project automates the evaluation of subjective</a:t>
            </a:r>
          </a:p>
        </p:txBody>
      </p:sp>
      <p:sp>
        <p:nvSpPr>
          <p:cNvPr id="19" name="TextBox 19"/>
          <p:cNvSpPr txBox="1"/>
          <p:nvPr/>
        </p:nvSpPr>
        <p:spPr>
          <a:xfrm>
            <a:off x="690858" y="2026253"/>
            <a:ext cx="8849887" cy="1420862"/>
          </a:xfrm>
          <a:prstGeom prst="rect">
            <a:avLst/>
          </a:prstGeom>
        </p:spPr>
        <p:txBody>
          <a:bodyPr lIns="0" tIns="0" rIns="0" bIns="0" rtlCol="0" anchor="t">
            <a:spAutoFit/>
          </a:bodyPr>
          <a:lstStyle/>
          <a:p>
            <a:pPr algn="l">
              <a:lnSpc>
                <a:spcPts val="5701"/>
              </a:lnSpc>
            </a:pPr>
            <a:r>
              <a:rPr lang="en-US" sz="3199" dirty="0">
                <a:solidFill>
                  <a:srgbClr val="2A2E3A"/>
                </a:solidFill>
                <a:latin typeface="Times New Roman"/>
                <a:ea typeface="Times New Roman"/>
                <a:cs typeface="Times New Roman"/>
                <a:sym typeface="Times New Roman"/>
              </a:rPr>
              <a:t>                 examination answers using Artificial Intelligence and Natural Language Processing (NLP).</a:t>
            </a:r>
          </a:p>
        </p:txBody>
      </p:sp>
      <p:sp>
        <p:nvSpPr>
          <p:cNvPr id="20" name="TextBox 20"/>
          <p:cNvSpPr txBox="1"/>
          <p:nvPr/>
        </p:nvSpPr>
        <p:spPr>
          <a:xfrm>
            <a:off x="690858" y="5788628"/>
            <a:ext cx="9470717" cy="4316462"/>
          </a:xfrm>
          <a:prstGeom prst="rect">
            <a:avLst/>
          </a:prstGeom>
        </p:spPr>
        <p:txBody>
          <a:bodyPr lIns="0" tIns="0" rIns="0" bIns="0" rtlCol="0" anchor="t">
            <a:spAutoFit/>
          </a:bodyPr>
          <a:lstStyle/>
          <a:p>
            <a:pPr algn="l">
              <a:lnSpc>
                <a:spcPts val="5701"/>
              </a:lnSpc>
            </a:pPr>
            <a:r>
              <a:rPr lang="en-US" sz="3199">
                <a:solidFill>
                  <a:srgbClr val="2A2E3A"/>
                </a:solidFill>
                <a:latin typeface="Times New Roman"/>
                <a:ea typeface="Times New Roman"/>
                <a:cs typeface="Times New Roman"/>
                <a:sym typeface="Times New Roman"/>
              </a:rPr>
              <a:t>The system reduces manual effort and time consumption. It ensures fair, consistent, and unbiased grading, minimizing human errors and subjectivity. </a:t>
            </a:r>
          </a:p>
          <a:p>
            <a:pPr algn="l">
              <a:lnSpc>
                <a:spcPts val="5701"/>
              </a:lnSpc>
            </a:pPr>
            <a:r>
              <a:rPr lang="en-US" sz="3199">
                <a:solidFill>
                  <a:srgbClr val="2A2E3A"/>
                </a:solidFill>
                <a:latin typeface="Times New Roman"/>
                <a:ea typeface="Times New Roman"/>
                <a:cs typeface="Times New Roman"/>
                <a:sym typeface="Times New Roman"/>
              </a:rPr>
              <a:t>Advanced text processing techniques like tokenization, cleaning, and semantic analysis are used to handle varied student responses.</a:t>
            </a:r>
          </a:p>
        </p:txBody>
      </p:sp>
      <p:sp>
        <p:nvSpPr>
          <p:cNvPr id="21" name="TextBox 21"/>
          <p:cNvSpPr txBox="1"/>
          <p:nvPr/>
        </p:nvSpPr>
        <p:spPr>
          <a:xfrm>
            <a:off x="734025" y="3490912"/>
            <a:ext cx="9233478" cy="2260730"/>
          </a:xfrm>
          <a:prstGeom prst="rect">
            <a:avLst/>
          </a:prstGeom>
        </p:spPr>
        <p:txBody>
          <a:bodyPr lIns="0" tIns="0" rIns="0" bIns="0" rtlCol="0" anchor="t">
            <a:spAutoFit/>
          </a:bodyPr>
          <a:lstStyle/>
          <a:p>
            <a:pPr algn="l">
              <a:lnSpc>
                <a:spcPts val="6075"/>
              </a:lnSpc>
            </a:pPr>
            <a:r>
              <a:rPr lang="en-US" sz="3399">
                <a:solidFill>
                  <a:srgbClr val="2A2E3A"/>
                </a:solidFill>
                <a:latin typeface="Times New Roman"/>
                <a:ea typeface="Times New Roman"/>
                <a:cs typeface="Times New Roman"/>
                <a:sym typeface="Times New Roman"/>
              </a:rPr>
              <a:t>It analyzes student answers by comparing them with model answers based on semantic similarity, keywords, and language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Freeform 2"/>
          <p:cNvSpPr/>
          <p:nvPr/>
        </p:nvSpPr>
        <p:spPr>
          <a:xfrm>
            <a:off x="-63503" y="-63503"/>
            <a:ext cx="10342426" cy="10413997"/>
          </a:xfrm>
          <a:custGeom>
            <a:avLst/>
            <a:gdLst/>
            <a:ahLst/>
            <a:cxnLst/>
            <a:rect l="l" t="t" r="r" b="b"/>
            <a:pathLst>
              <a:path w="10342426" h="10413997">
                <a:moveTo>
                  <a:pt x="0" y="0"/>
                </a:moveTo>
                <a:lnTo>
                  <a:pt x="10342426" y="0"/>
                </a:lnTo>
                <a:lnTo>
                  <a:pt x="10342426" y="10413997"/>
                </a:lnTo>
                <a:lnTo>
                  <a:pt x="0" y="104139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43947" y="2397671"/>
            <a:ext cx="8262614" cy="5171065"/>
          </a:xfrm>
          <a:custGeom>
            <a:avLst/>
            <a:gdLst/>
            <a:ahLst/>
            <a:cxnLst/>
            <a:rect l="l" t="t" r="r" b="b"/>
            <a:pathLst>
              <a:path w="8262614" h="5171065">
                <a:moveTo>
                  <a:pt x="0" y="0"/>
                </a:moveTo>
                <a:lnTo>
                  <a:pt x="8262614" y="0"/>
                </a:lnTo>
                <a:lnTo>
                  <a:pt x="8262614" y="5171065"/>
                </a:lnTo>
                <a:lnTo>
                  <a:pt x="0" y="5171065"/>
                </a:lnTo>
                <a:lnTo>
                  <a:pt x="0" y="0"/>
                </a:lnTo>
                <a:close/>
              </a:path>
            </a:pathLst>
          </a:custGeom>
          <a:blipFill>
            <a:blip r:embed="rId4"/>
            <a:stretch>
              <a:fillRect l="-7380" t="-8877" r="-4460" b="-8921"/>
            </a:stretch>
          </a:blipFill>
        </p:spPr>
      </p:sp>
      <p:grpSp>
        <p:nvGrpSpPr>
          <p:cNvPr id="4" name="Group 4"/>
          <p:cNvGrpSpPr/>
          <p:nvPr/>
        </p:nvGrpSpPr>
        <p:grpSpPr>
          <a:xfrm>
            <a:off x="6044794" y="1328738"/>
            <a:ext cx="6110288" cy="57150"/>
            <a:chOff x="0" y="0"/>
            <a:chExt cx="6110288" cy="57150"/>
          </a:xfrm>
        </p:grpSpPr>
        <p:sp>
          <p:nvSpPr>
            <p:cNvPr id="5" name="Freeform 5"/>
            <p:cNvSpPr/>
            <p:nvPr/>
          </p:nvSpPr>
          <p:spPr>
            <a:xfrm>
              <a:off x="0" y="0"/>
              <a:ext cx="6110224" cy="57150"/>
            </a:xfrm>
            <a:custGeom>
              <a:avLst/>
              <a:gdLst/>
              <a:ahLst/>
              <a:cxnLst/>
              <a:rect l="l" t="t" r="r" b="b"/>
              <a:pathLst>
                <a:path w="6110224" h="57150">
                  <a:moveTo>
                    <a:pt x="0" y="0"/>
                  </a:moveTo>
                  <a:lnTo>
                    <a:pt x="6110224" y="0"/>
                  </a:lnTo>
                  <a:lnTo>
                    <a:pt x="6110224" y="57150"/>
                  </a:lnTo>
                  <a:lnTo>
                    <a:pt x="0" y="57150"/>
                  </a:lnTo>
                  <a:close/>
                </a:path>
              </a:pathLst>
            </a:custGeom>
            <a:solidFill>
              <a:srgbClr val="2A2E3A"/>
            </a:solidFill>
            <a:ln w="12700">
              <a:solidFill>
                <a:srgbClr val="000000"/>
              </a:solidFill>
            </a:ln>
          </p:spPr>
        </p:sp>
      </p:grpSp>
      <p:grpSp>
        <p:nvGrpSpPr>
          <p:cNvPr id="6" name="Group 6"/>
          <p:cNvGrpSpPr/>
          <p:nvPr/>
        </p:nvGrpSpPr>
        <p:grpSpPr>
          <a:xfrm>
            <a:off x="10224021" y="2251796"/>
            <a:ext cx="142875" cy="142875"/>
            <a:chOff x="0" y="0"/>
            <a:chExt cx="142875" cy="142875"/>
          </a:xfrm>
        </p:grpSpPr>
        <p:sp>
          <p:nvSpPr>
            <p:cNvPr id="7" name="Freeform 7"/>
            <p:cNvSpPr/>
            <p:nvPr/>
          </p:nvSpPr>
          <p:spPr>
            <a:xfrm>
              <a:off x="0" y="0"/>
              <a:ext cx="142875" cy="142875"/>
            </a:xfrm>
            <a:custGeom>
              <a:avLst/>
              <a:gdLst/>
              <a:ahLst/>
              <a:cxnLst/>
              <a:rect l="l" t="t" r="r" b="b"/>
              <a:pathLst>
                <a:path w="142875" h="142875">
                  <a:moveTo>
                    <a:pt x="142875" y="71374"/>
                  </a:moveTo>
                  <a:cubicBezTo>
                    <a:pt x="142875" y="76073"/>
                    <a:pt x="142367" y="80772"/>
                    <a:pt x="141478" y="85344"/>
                  </a:cubicBezTo>
                  <a:cubicBezTo>
                    <a:pt x="140589" y="89916"/>
                    <a:pt x="139192" y="94361"/>
                    <a:pt x="137414" y="98806"/>
                  </a:cubicBezTo>
                  <a:cubicBezTo>
                    <a:pt x="135636" y="103251"/>
                    <a:pt x="133477" y="107315"/>
                    <a:pt x="130810" y="111125"/>
                  </a:cubicBezTo>
                  <a:cubicBezTo>
                    <a:pt x="128143" y="114935"/>
                    <a:pt x="125222" y="118618"/>
                    <a:pt x="121920" y="121920"/>
                  </a:cubicBezTo>
                  <a:cubicBezTo>
                    <a:pt x="118618" y="125222"/>
                    <a:pt x="114935" y="128143"/>
                    <a:pt x="111125" y="130810"/>
                  </a:cubicBezTo>
                  <a:cubicBezTo>
                    <a:pt x="107315" y="133477"/>
                    <a:pt x="103124" y="135636"/>
                    <a:pt x="98806" y="137414"/>
                  </a:cubicBezTo>
                  <a:cubicBezTo>
                    <a:pt x="94488" y="139192"/>
                    <a:pt x="90043" y="140589"/>
                    <a:pt x="85344" y="141478"/>
                  </a:cubicBezTo>
                  <a:cubicBezTo>
                    <a:pt x="80645" y="142367"/>
                    <a:pt x="76073" y="142875"/>
                    <a:pt x="71374" y="142875"/>
                  </a:cubicBezTo>
                  <a:cubicBezTo>
                    <a:pt x="66675" y="142875"/>
                    <a:pt x="61976" y="142367"/>
                    <a:pt x="57404" y="141478"/>
                  </a:cubicBezTo>
                  <a:cubicBezTo>
                    <a:pt x="52832" y="140589"/>
                    <a:pt x="48387" y="139192"/>
                    <a:pt x="43942" y="137414"/>
                  </a:cubicBezTo>
                  <a:cubicBezTo>
                    <a:pt x="39497" y="135636"/>
                    <a:pt x="35433" y="133477"/>
                    <a:pt x="31623" y="130810"/>
                  </a:cubicBezTo>
                  <a:cubicBezTo>
                    <a:pt x="27813" y="128143"/>
                    <a:pt x="24130" y="125222"/>
                    <a:pt x="20828" y="121920"/>
                  </a:cubicBezTo>
                  <a:cubicBezTo>
                    <a:pt x="17526" y="118618"/>
                    <a:pt x="14605" y="114935"/>
                    <a:pt x="11938" y="111125"/>
                  </a:cubicBezTo>
                  <a:cubicBezTo>
                    <a:pt x="9271" y="107315"/>
                    <a:pt x="7112" y="103124"/>
                    <a:pt x="5334" y="98806"/>
                  </a:cubicBezTo>
                  <a:cubicBezTo>
                    <a:pt x="3556" y="94488"/>
                    <a:pt x="2286" y="89916"/>
                    <a:pt x="1397" y="85344"/>
                  </a:cubicBezTo>
                  <a:cubicBezTo>
                    <a:pt x="508" y="80772"/>
                    <a:pt x="0" y="76073"/>
                    <a:pt x="0" y="71374"/>
                  </a:cubicBezTo>
                  <a:cubicBezTo>
                    <a:pt x="0" y="66675"/>
                    <a:pt x="508" y="61976"/>
                    <a:pt x="1397" y="57404"/>
                  </a:cubicBezTo>
                  <a:cubicBezTo>
                    <a:pt x="2286" y="52832"/>
                    <a:pt x="3683" y="48387"/>
                    <a:pt x="5461" y="43942"/>
                  </a:cubicBezTo>
                  <a:cubicBezTo>
                    <a:pt x="7239" y="39497"/>
                    <a:pt x="9398" y="35433"/>
                    <a:pt x="12065" y="31623"/>
                  </a:cubicBezTo>
                  <a:cubicBezTo>
                    <a:pt x="14732" y="27813"/>
                    <a:pt x="17653" y="24130"/>
                    <a:pt x="20955" y="20828"/>
                  </a:cubicBezTo>
                  <a:cubicBezTo>
                    <a:pt x="24257" y="17526"/>
                    <a:pt x="27940" y="14605"/>
                    <a:pt x="31750" y="11938"/>
                  </a:cubicBezTo>
                  <a:cubicBezTo>
                    <a:pt x="35560" y="9271"/>
                    <a:pt x="39751" y="7112"/>
                    <a:pt x="44069" y="5334"/>
                  </a:cubicBezTo>
                  <a:cubicBezTo>
                    <a:pt x="48387" y="3556"/>
                    <a:pt x="52959" y="2286"/>
                    <a:pt x="57531" y="1397"/>
                  </a:cubicBezTo>
                  <a:cubicBezTo>
                    <a:pt x="62103" y="508"/>
                    <a:pt x="66802" y="0"/>
                    <a:pt x="71374" y="0"/>
                  </a:cubicBezTo>
                  <a:cubicBezTo>
                    <a:pt x="75946" y="0"/>
                    <a:pt x="80772" y="508"/>
                    <a:pt x="85344" y="1397"/>
                  </a:cubicBezTo>
                  <a:cubicBezTo>
                    <a:pt x="89916" y="2286"/>
                    <a:pt x="94361" y="3683"/>
                    <a:pt x="98806" y="5461"/>
                  </a:cubicBezTo>
                  <a:cubicBezTo>
                    <a:pt x="103251" y="7239"/>
                    <a:pt x="107315" y="9398"/>
                    <a:pt x="111125" y="12065"/>
                  </a:cubicBezTo>
                  <a:cubicBezTo>
                    <a:pt x="114935" y="14732"/>
                    <a:pt x="118618" y="17653"/>
                    <a:pt x="121920" y="20955"/>
                  </a:cubicBezTo>
                  <a:cubicBezTo>
                    <a:pt x="125222" y="24257"/>
                    <a:pt x="128143" y="27940"/>
                    <a:pt x="130810" y="31750"/>
                  </a:cubicBezTo>
                  <a:cubicBezTo>
                    <a:pt x="133477" y="35560"/>
                    <a:pt x="135636" y="39751"/>
                    <a:pt x="137414" y="44069"/>
                  </a:cubicBezTo>
                  <a:cubicBezTo>
                    <a:pt x="139192" y="48387"/>
                    <a:pt x="140589" y="52832"/>
                    <a:pt x="141478" y="57531"/>
                  </a:cubicBezTo>
                  <a:cubicBezTo>
                    <a:pt x="142367" y="62230"/>
                    <a:pt x="142875" y="66802"/>
                    <a:pt x="142875" y="71501"/>
                  </a:cubicBezTo>
                  <a:close/>
                </a:path>
              </a:pathLst>
            </a:custGeom>
            <a:solidFill>
              <a:srgbClr val="000000"/>
            </a:solidFill>
            <a:ln w="12700">
              <a:solidFill>
                <a:srgbClr val="000000"/>
              </a:solidFill>
            </a:ln>
          </p:spPr>
        </p:sp>
      </p:grpSp>
      <p:grpSp>
        <p:nvGrpSpPr>
          <p:cNvPr id="8" name="Group 8"/>
          <p:cNvGrpSpPr/>
          <p:nvPr/>
        </p:nvGrpSpPr>
        <p:grpSpPr>
          <a:xfrm>
            <a:off x="10224021" y="4652096"/>
            <a:ext cx="142875" cy="142875"/>
            <a:chOff x="0" y="0"/>
            <a:chExt cx="142875" cy="142875"/>
          </a:xfrm>
        </p:grpSpPr>
        <p:sp>
          <p:nvSpPr>
            <p:cNvPr id="9" name="Freeform 9"/>
            <p:cNvSpPr/>
            <p:nvPr/>
          </p:nvSpPr>
          <p:spPr>
            <a:xfrm>
              <a:off x="0" y="0"/>
              <a:ext cx="142875" cy="142875"/>
            </a:xfrm>
            <a:custGeom>
              <a:avLst/>
              <a:gdLst/>
              <a:ahLst/>
              <a:cxnLst/>
              <a:rect l="l" t="t" r="r" b="b"/>
              <a:pathLst>
                <a:path w="142875" h="142875">
                  <a:moveTo>
                    <a:pt x="142875" y="71374"/>
                  </a:moveTo>
                  <a:cubicBezTo>
                    <a:pt x="142875" y="76073"/>
                    <a:pt x="142367" y="80772"/>
                    <a:pt x="141478" y="85344"/>
                  </a:cubicBezTo>
                  <a:cubicBezTo>
                    <a:pt x="140589" y="89916"/>
                    <a:pt x="139192" y="94361"/>
                    <a:pt x="137414" y="98806"/>
                  </a:cubicBezTo>
                  <a:cubicBezTo>
                    <a:pt x="135636" y="103251"/>
                    <a:pt x="133477" y="107315"/>
                    <a:pt x="130810" y="111125"/>
                  </a:cubicBezTo>
                  <a:cubicBezTo>
                    <a:pt x="128143" y="114935"/>
                    <a:pt x="125222" y="118618"/>
                    <a:pt x="121920" y="121920"/>
                  </a:cubicBezTo>
                  <a:cubicBezTo>
                    <a:pt x="118618" y="125222"/>
                    <a:pt x="114935" y="128143"/>
                    <a:pt x="111125" y="130810"/>
                  </a:cubicBezTo>
                  <a:cubicBezTo>
                    <a:pt x="107315" y="133477"/>
                    <a:pt x="103124" y="135636"/>
                    <a:pt x="98806" y="137414"/>
                  </a:cubicBezTo>
                  <a:cubicBezTo>
                    <a:pt x="94488" y="139192"/>
                    <a:pt x="90043" y="140589"/>
                    <a:pt x="85344" y="141478"/>
                  </a:cubicBezTo>
                  <a:cubicBezTo>
                    <a:pt x="80645" y="142367"/>
                    <a:pt x="76073" y="142875"/>
                    <a:pt x="71374" y="142875"/>
                  </a:cubicBezTo>
                  <a:cubicBezTo>
                    <a:pt x="66675" y="142875"/>
                    <a:pt x="61976" y="142367"/>
                    <a:pt x="57404" y="141478"/>
                  </a:cubicBezTo>
                  <a:cubicBezTo>
                    <a:pt x="52832" y="140589"/>
                    <a:pt x="48387" y="139192"/>
                    <a:pt x="43942" y="137414"/>
                  </a:cubicBezTo>
                  <a:cubicBezTo>
                    <a:pt x="39497" y="135636"/>
                    <a:pt x="35433" y="133477"/>
                    <a:pt x="31623" y="130810"/>
                  </a:cubicBezTo>
                  <a:cubicBezTo>
                    <a:pt x="27813" y="128143"/>
                    <a:pt x="24130" y="125222"/>
                    <a:pt x="20828" y="121920"/>
                  </a:cubicBezTo>
                  <a:cubicBezTo>
                    <a:pt x="17526" y="118618"/>
                    <a:pt x="14605" y="114935"/>
                    <a:pt x="11938" y="111125"/>
                  </a:cubicBezTo>
                  <a:cubicBezTo>
                    <a:pt x="9271" y="107315"/>
                    <a:pt x="7112" y="103124"/>
                    <a:pt x="5334" y="98806"/>
                  </a:cubicBezTo>
                  <a:cubicBezTo>
                    <a:pt x="3556" y="94488"/>
                    <a:pt x="2286" y="89916"/>
                    <a:pt x="1397" y="85344"/>
                  </a:cubicBezTo>
                  <a:cubicBezTo>
                    <a:pt x="508" y="80772"/>
                    <a:pt x="0" y="76073"/>
                    <a:pt x="0" y="71374"/>
                  </a:cubicBezTo>
                  <a:cubicBezTo>
                    <a:pt x="0" y="66675"/>
                    <a:pt x="508" y="61976"/>
                    <a:pt x="1397" y="57404"/>
                  </a:cubicBezTo>
                  <a:cubicBezTo>
                    <a:pt x="2286" y="52832"/>
                    <a:pt x="3683" y="48387"/>
                    <a:pt x="5461" y="43942"/>
                  </a:cubicBezTo>
                  <a:cubicBezTo>
                    <a:pt x="7239" y="39497"/>
                    <a:pt x="9398" y="35433"/>
                    <a:pt x="12065" y="31623"/>
                  </a:cubicBezTo>
                  <a:cubicBezTo>
                    <a:pt x="14732" y="27813"/>
                    <a:pt x="17653" y="24130"/>
                    <a:pt x="20955" y="20828"/>
                  </a:cubicBezTo>
                  <a:cubicBezTo>
                    <a:pt x="24257" y="17526"/>
                    <a:pt x="27940" y="14605"/>
                    <a:pt x="31750" y="11938"/>
                  </a:cubicBezTo>
                  <a:cubicBezTo>
                    <a:pt x="35560" y="9271"/>
                    <a:pt x="39751" y="7112"/>
                    <a:pt x="44069" y="5334"/>
                  </a:cubicBezTo>
                  <a:cubicBezTo>
                    <a:pt x="48387" y="3556"/>
                    <a:pt x="52959" y="2286"/>
                    <a:pt x="57531" y="1397"/>
                  </a:cubicBezTo>
                  <a:cubicBezTo>
                    <a:pt x="62103" y="508"/>
                    <a:pt x="66802" y="0"/>
                    <a:pt x="71374" y="0"/>
                  </a:cubicBezTo>
                  <a:cubicBezTo>
                    <a:pt x="75946" y="0"/>
                    <a:pt x="80772" y="508"/>
                    <a:pt x="85344" y="1397"/>
                  </a:cubicBezTo>
                  <a:cubicBezTo>
                    <a:pt x="89916" y="2286"/>
                    <a:pt x="94361" y="3683"/>
                    <a:pt x="98806" y="5461"/>
                  </a:cubicBezTo>
                  <a:cubicBezTo>
                    <a:pt x="103251" y="7239"/>
                    <a:pt x="107315" y="9398"/>
                    <a:pt x="111125" y="12065"/>
                  </a:cubicBezTo>
                  <a:cubicBezTo>
                    <a:pt x="114935" y="14732"/>
                    <a:pt x="118618" y="17653"/>
                    <a:pt x="121920" y="20955"/>
                  </a:cubicBezTo>
                  <a:cubicBezTo>
                    <a:pt x="125222" y="24257"/>
                    <a:pt x="128143" y="27940"/>
                    <a:pt x="130810" y="31750"/>
                  </a:cubicBezTo>
                  <a:cubicBezTo>
                    <a:pt x="133477" y="35560"/>
                    <a:pt x="135636" y="39751"/>
                    <a:pt x="137414" y="44069"/>
                  </a:cubicBezTo>
                  <a:cubicBezTo>
                    <a:pt x="139192" y="48387"/>
                    <a:pt x="140589" y="52832"/>
                    <a:pt x="141478" y="57531"/>
                  </a:cubicBezTo>
                  <a:cubicBezTo>
                    <a:pt x="142367" y="62230"/>
                    <a:pt x="142875" y="66802"/>
                    <a:pt x="142875" y="71501"/>
                  </a:cubicBezTo>
                  <a:close/>
                </a:path>
              </a:pathLst>
            </a:custGeom>
            <a:solidFill>
              <a:srgbClr val="000000"/>
            </a:solidFill>
            <a:ln w="12700">
              <a:solidFill>
                <a:srgbClr val="000000"/>
              </a:solidFill>
            </a:ln>
          </p:spPr>
        </p:sp>
      </p:grpSp>
      <p:grpSp>
        <p:nvGrpSpPr>
          <p:cNvPr id="10" name="Group 10"/>
          <p:cNvGrpSpPr/>
          <p:nvPr/>
        </p:nvGrpSpPr>
        <p:grpSpPr>
          <a:xfrm>
            <a:off x="10224021" y="7052396"/>
            <a:ext cx="142875" cy="142875"/>
            <a:chOff x="0" y="0"/>
            <a:chExt cx="142875" cy="142875"/>
          </a:xfrm>
        </p:grpSpPr>
        <p:sp>
          <p:nvSpPr>
            <p:cNvPr id="11" name="Freeform 11"/>
            <p:cNvSpPr/>
            <p:nvPr/>
          </p:nvSpPr>
          <p:spPr>
            <a:xfrm>
              <a:off x="0" y="0"/>
              <a:ext cx="142875" cy="142875"/>
            </a:xfrm>
            <a:custGeom>
              <a:avLst/>
              <a:gdLst/>
              <a:ahLst/>
              <a:cxnLst/>
              <a:rect l="l" t="t" r="r" b="b"/>
              <a:pathLst>
                <a:path w="142875" h="142875">
                  <a:moveTo>
                    <a:pt x="142875" y="71374"/>
                  </a:moveTo>
                  <a:cubicBezTo>
                    <a:pt x="142875" y="76073"/>
                    <a:pt x="142367" y="80772"/>
                    <a:pt x="141478" y="85344"/>
                  </a:cubicBezTo>
                  <a:cubicBezTo>
                    <a:pt x="140589" y="89916"/>
                    <a:pt x="139192" y="94361"/>
                    <a:pt x="137414" y="98806"/>
                  </a:cubicBezTo>
                  <a:cubicBezTo>
                    <a:pt x="135636" y="103251"/>
                    <a:pt x="133477" y="107315"/>
                    <a:pt x="130810" y="111125"/>
                  </a:cubicBezTo>
                  <a:cubicBezTo>
                    <a:pt x="128143" y="114935"/>
                    <a:pt x="125222" y="118618"/>
                    <a:pt x="121920" y="121920"/>
                  </a:cubicBezTo>
                  <a:cubicBezTo>
                    <a:pt x="118618" y="125222"/>
                    <a:pt x="114935" y="128143"/>
                    <a:pt x="111125" y="130810"/>
                  </a:cubicBezTo>
                  <a:cubicBezTo>
                    <a:pt x="107315" y="133477"/>
                    <a:pt x="103124" y="135636"/>
                    <a:pt x="98806" y="137414"/>
                  </a:cubicBezTo>
                  <a:cubicBezTo>
                    <a:pt x="94488" y="139192"/>
                    <a:pt x="90043" y="140589"/>
                    <a:pt x="85344" y="141478"/>
                  </a:cubicBezTo>
                  <a:cubicBezTo>
                    <a:pt x="80645" y="142367"/>
                    <a:pt x="76073" y="142875"/>
                    <a:pt x="71374" y="142875"/>
                  </a:cubicBezTo>
                  <a:cubicBezTo>
                    <a:pt x="66675" y="142875"/>
                    <a:pt x="61976" y="142367"/>
                    <a:pt x="57404" y="141478"/>
                  </a:cubicBezTo>
                  <a:cubicBezTo>
                    <a:pt x="52832" y="140589"/>
                    <a:pt x="48387" y="139192"/>
                    <a:pt x="43942" y="137414"/>
                  </a:cubicBezTo>
                  <a:cubicBezTo>
                    <a:pt x="39497" y="135636"/>
                    <a:pt x="35433" y="133477"/>
                    <a:pt x="31623" y="130810"/>
                  </a:cubicBezTo>
                  <a:cubicBezTo>
                    <a:pt x="27813" y="128143"/>
                    <a:pt x="24130" y="125222"/>
                    <a:pt x="20828" y="121920"/>
                  </a:cubicBezTo>
                  <a:cubicBezTo>
                    <a:pt x="17526" y="118618"/>
                    <a:pt x="14605" y="114935"/>
                    <a:pt x="11938" y="111125"/>
                  </a:cubicBezTo>
                  <a:cubicBezTo>
                    <a:pt x="9271" y="107315"/>
                    <a:pt x="7112" y="103124"/>
                    <a:pt x="5334" y="98806"/>
                  </a:cubicBezTo>
                  <a:cubicBezTo>
                    <a:pt x="3556" y="94488"/>
                    <a:pt x="2286" y="89916"/>
                    <a:pt x="1397" y="85344"/>
                  </a:cubicBezTo>
                  <a:cubicBezTo>
                    <a:pt x="508" y="80772"/>
                    <a:pt x="0" y="76073"/>
                    <a:pt x="0" y="71374"/>
                  </a:cubicBezTo>
                  <a:cubicBezTo>
                    <a:pt x="0" y="66675"/>
                    <a:pt x="508" y="61976"/>
                    <a:pt x="1397" y="57404"/>
                  </a:cubicBezTo>
                  <a:cubicBezTo>
                    <a:pt x="2286" y="52832"/>
                    <a:pt x="3683" y="48387"/>
                    <a:pt x="5461" y="43942"/>
                  </a:cubicBezTo>
                  <a:cubicBezTo>
                    <a:pt x="7239" y="39497"/>
                    <a:pt x="9398" y="35433"/>
                    <a:pt x="12065" y="31623"/>
                  </a:cubicBezTo>
                  <a:cubicBezTo>
                    <a:pt x="14732" y="27813"/>
                    <a:pt x="17653" y="24130"/>
                    <a:pt x="20955" y="20828"/>
                  </a:cubicBezTo>
                  <a:cubicBezTo>
                    <a:pt x="24257" y="17526"/>
                    <a:pt x="27940" y="14605"/>
                    <a:pt x="31750" y="11938"/>
                  </a:cubicBezTo>
                  <a:cubicBezTo>
                    <a:pt x="35560" y="9271"/>
                    <a:pt x="39751" y="7112"/>
                    <a:pt x="44069" y="5334"/>
                  </a:cubicBezTo>
                  <a:cubicBezTo>
                    <a:pt x="48387" y="3556"/>
                    <a:pt x="52959" y="2286"/>
                    <a:pt x="57531" y="1397"/>
                  </a:cubicBezTo>
                  <a:cubicBezTo>
                    <a:pt x="62103" y="508"/>
                    <a:pt x="66802" y="0"/>
                    <a:pt x="71374" y="0"/>
                  </a:cubicBezTo>
                  <a:cubicBezTo>
                    <a:pt x="75946" y="0"/>
                    <a:pt x="80772" y="508"/>
                    <a:pt x="85344" y="1397"/>
                  </a:cubicBezTo>
                  <a:cubicBezTo>
                    <a:pt x="89916" y="2286"/>
                    <a:pt x="94361" y="3683"/>
                    <a:pt x="98806" y="5461"/>
                  </a:cubicBezTo>
                  <a:cubicBezTo>
                    <a:pt x="103251" y="7239"/>
                    <a:pt x="107315" y="9398"/>
                    <a:pt x="111125" y="12065"/>
                  </a:cubicBezTo>
                  <a:cubicBezTo>
                    <a:pt x="114935" y="14732"/>
                    <a:pt x="118618" y="17653"/>
                    <a:pt x="121920" y="20955"/>
                  </a:cubicBezTo>
                  <a:cubicBezTo>
                    <a:pt x="125222" y="24257"/>
                    <a:pt x="128143" y="27940"/>
                    <a:pt x="130810" y="31750"/>
                  </a:cubicBezTo>
                  <a:cubicBezTo>
                    <a:pt x="133477" y="35560"/>
                    <a:pt x="135636" y="39751"/>
                    <a:pt x="137414" y="44069"/>
                  </a:cubicBezTo>
                  <a:cubicBezTo>
                    <a:pt x="139192" y="48387"/>
                    <a:pt x="140589" y="52832"/>
                    <a:pt x="141478" y="57531"/>
                  </a:cubicBezTo>
                  <a:cubicBezTo>
                    <a:pt x="142367" y="62230"/>
                    <a:pt x="142875" y="66802"/>
                    <a:pt x="142875" y="71501"/>
                  </a:cubicBezTo>
                  <a:close/>
                </a:path>
              </a:pathLst>
            </a:custGeom>
            <a:solidFill>
              <a:srgbClr val="000000"/>
            </a:solidFill>
            <a:ln w="12700">
              <a:solidFill>
                <a:srgbClr val="000000"/>
              </a:solidFill>
            </a:ln>
          </p:spPr>
        </p:sp>
      </p:grpSp>
      <p:sp>
        <p:nvSpPr>
          <p:cNvPr id="12" name="TextBox 12"/>
          <p:cNvSpPr txBox="1"/>
          <p:nvPr/>
        </p:nvSpPr>
        <p:spPr>
          <a:xfrm>
            <a:off x="10577636" y="1877216"/>
            <a:ext cx="6560896" cy="7159180"/>
          </a:xfrm>
          <a:prstGeom prst="rect">
            <a:avLst/>
          </a:prstGeom>
        </p:spPr>
        <p:txBody>
          <a:bodyPr lIns="0" tIns="0" rIns="0" bIns="0" rtlCol="0" anchor="t">
            <a:spAutoFit/>
          </a:bodyPr>
          <a:lstStyle/>
          <a:p>
            <a:pPr algn="l">
              <a:lnSpc>
                <a:spcPts val="6299"/>
              </a:lnSpc>
            </a:pPr>
            <a:r>
              <a:rPr lang="en-US" sz="3799">
                <a:solidFill>
                  <a:srgbClr val="000000"/>
                </a:solidFill>
                <a:latin typeface="Times New Roman"/>
                <a:ea typeface="Times New Roman"/>
                <a:cs typeface="Times New Roman"/>
                <a:sym typeface="Times New Roman"/>
              </a:rPr>
              <a:t>Uses basic NLP and machine learning techniques to evaluate subjective answers. Compares answers using text similarity and classification models. Faces challenges with synonyms, varying answer lengths, and sentence order.</a:t>
            </a:r>
          </a:p>
        </p:txBody>
      </p:sp>
      <p:sp>
        <p:nvSpPr>
          <p:cNvPr id="13" name="TextBox 13"/>
          <p:cNvSpPr txBox="1"/>
          <p:nvPr/>
        </p:nvSpPr>
        <p:spPr>
          <a:xfrm>
            <a:off x="6044794" y="628945"/>
            <a:ext cx="6232398" cy="900979"/>
          </a:xfrm>
          <a:prstGeom prst="rect">
            <a:avLst/>
          </a:prstGeom>
        </p:spPr>
        <p:txBody>
          <a:bodyPr lIns="0" tIns="0" rIns="0" bIns="0" rtlCol="0" anchor="t">
            <a:spAutoFit/>
          </a:bodyPr>
          <a:lstStyle/>
          <a:p>
            <a:pPr algn="l">
              <a:lnSpc>
                <a:spcPts val="7279"/>
              </a:lnSpc>
            </a:pPr>
            <a:r>
              <a:rPr lang="en-US" sz="5199" b="1">
                <a:solidFill>
                  <a:srgbClr val="2A2E3A"/>
                </a:solidFill>
                <a:latin typeface="Times New Roman Bold"/>
                <a:ea typeface="Times New Roman Bold"/>
                <a:cs typeface="Times New Roman Bold"/>
                <a:sym typeface="Times New Roman Bold"/>
              </a:rPr>
              <a:t>EXISTING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450847" y="422272"/>
            <a:ext cx="17388583" cy="9413434"/>
            <a:chOff x="0" y="0"/>
            <a:chExt cx="17388586" cy="9413431"/>
          </a:xfrm>
        </p:grpSpPr>
        <p:sp>
          <p:nvSpPr>
            <p:cNvPr id="3" name="Freeform 3"/>
            <p:cNvSpPr/>
            <p:nvPr/>
          </p:nvSpPr>
          <p:spPr>
            <a:xfrm>
              <a:off x="63500" y="63500"/>
              <a:ext cx="17259302" cy="9286369"/>
            </a:xfrm>
            <a:custGeom>
              <a:avLst/>
              <a:gdLst/>
              <a:ahLst/>
              <a:cxnLst/>
              <a:rect l="l" t="t" r="r" b="b"/>
              <a:pathLst>
                <a:path w="17259302" h="9286369">
                  <a:moveTo>
                    <a:pt x="0" y="0"/>
                  </a:moveTo>
                  <a:lnTo>
                    <a:pt x="0" y="9286369"/>
                  </a:lnTo>
                  <a:lnTo>
                    <a:pt x="17259302" y="9286369"/>
                  </a:lnTo>
                  <a:lnTo>
                    <a:pt x="17259302" y="0"/>
                  </a:lnTo>
                  <a:close/>
                </a:path>
              </a:pathLst>
            </a:custGeom>
            <a:solidFill>
              <a:srgbClr val="FFFFFF"/>
            </a:solidFill>
            <a:ln w="12700">
              <a:solidFill>
                <a:srgbClr val="000000"/>
              </a:solidFill>
            </a:ln>
          </p:spPr>
        </p:sp>
        <p:sp>
          <p:nvSpPr>
            <p:cNvPr id="4" name="Freeform 4"/>
            <p:cNvSpPr/>
            <p:nvPr/>
          </p:nvSpPr>
          <p:spPr>
            <a:xfrm>
              <a:off x="5683123" y="1198499"/>
              <a:ext cx="6019800" cy="66675"/>
            </a:xfrm>
            <a:custGeom>
              <a:avLst/>
              <a:gdLst/>
              <a:ahLst/>
              <a:cxnLst/>
              <a:rect l="l" t="t" r="r" b="b"/>
              <a:pathLst>
                <a:path w="6019800" h="66675">
                  <a:moveTo>
                    <a:pt x="0" y="0"/>
                  </a:moveTo>
                  <a:lnTo>
                    <a:pt x="6019801" y="0"/>
                  </a:lnTo>
                  <a:lnTo>
                    <a:pt x="6019801" y="66675"/>
                  </a:lnTo>
                  <a:lnTo>
                    <a:pt x="0" y="66675"/>
                  </a:lnTo>
                  <a:close/>
                </a:path>
              </a:pathLst>
            </a:custGeom>
            <a:solidFill>
              <a:srgbClr val="2A2E3A"/>
            </a:solidFill>
            <a:ln w="12700">
              <a:solidFill>
                <a:srgbClr val="000000"/>
              </a:solidFill>
            </a:ln>
          </p:spPr>
        </p:sp>
        <p:sp>
          <p:nvSpPr>
            <p:cNvPr id="5" name="Freeform 5"/>
            <p:cNvSpPr/>
            <p:nvPr/>
          </p:nvSpPr>
          <p:spPr>
            <a:xfrm>
              <a:off x="740791" y="1904873"/>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858" y="96139"/>
                    <a:pt x="5080" y="92075"/>
                  </a:cubicBezTo>
                  <a:cubicBezTo>
                    <a:pt x="3302" y="88011"/>
                    <a:pt x="2159" y="83820"/>
                    <a:pt x="1270" y="79629"/>
                  </a:cubicBezTo>
                  <a:cubicBezTo>
                    <a:pt x="381" y="75438"/>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2A2E3A"/>
            </a:solidFill>
            <a:ln w="12700">
              <a:solidFill>
                <a:srgbClr val="000000"/>
              </a:solidFill>
            </a:ln>
          </p:spPr>
        </p:sp>
        <p:sp>
          <p:nvSpPr>
            <p:cNvPr id="6" name="Freeform 6"/>
            <p:cNvSpPr/>
            <p:nvPr/>
          </p:nvSpPr>
          <p:spPr>
            <a:xfrm>
              <a:off x="711962" y="3628771"/>
              <a:ext cx="114554" cy="114554"/>
            </a:xfrm>
            <a:custGeom>
              <a:avLst/>
              <a:gdLst/>
              <a:ahLst/>
              <a:cxnLst/>
              <a:rect l="l" t="t" r="r" b="b"/>
              <a:pathLst>
                <a:path w="114554" h="114554">
                  <a:moveTo>
                    <a:pt x="114554" y="57277"/>
                  </a:moveTo>
                  <a:cubicBezTo>
                    <a:pt x="114554" y="61087"/>
                    <a:pt x="114173" y="64770"/>
                    <a:pt x="113411" y="68453"/>
                  </a:cubicBezTo>
                  <a:cubicBezTo>
                    <a:pt x="112649" y="72136"/>
                    <a:pt x="111633" y="75692"/>
                    <a:pt x="110109" y="79121"/>
                  </a:cubicBezTo>
                  <a:cubicBezTo>
                    <a:pt x="108585" y="82550"/>
                    <a:pt x="106934" y="85852"/>
                    <a:pt x="104775" y="89027"/>
                  </a:cubicBezTo>
                  <a:cubicBezTo>
                    <a:pt x="102616" y="92202"/>
                    <a:pt x="100330" y="94996"/>
                    <a:pt x="97663" y="97663"/>
                  </a:cubicBezTo>
                  <a:cubicBezTo>
                    <a:pt x="94996" y="100330"/>
                    <a:pt x="92075" y="102743"/>
                    <a:pt x="89027" y="104775"/>
                  </a:cubicBezTo>
                  <a:cubicBezTo>
                    <a:pt x="85979" y="106807"/>
                    <a:pt x="82550" y="108585"/>
                    <a:pt x="79121" y="110109"/>
                  </a:cubicBezTo>
                  <a:cubicBezTo>
                    <a:pt x="75692" y="111633"/>
                    <a:pt x="72136" y="112649"/>
                    <a:pt x="68453" y="113411"/>
                  </a:cubicBezTo>
                  <a:cubicBezTo>
                    <a:pt x="64770" y="114173"/>
                    <a:pt x="61087" y="114554"/>
                    <a:pt x="57277" y="114554"/>
                  </a:cubicBezTo>
                  <a:cubicBezTo>
                    <a:pt x="53467" y="114554"/>
                    <a:pt x="49784" y="114173"/>
                    <a:pt x="46101" y="113411"/>
                  </a:cubicBezTo>
                  <a:cubicBezTo>
                    <a:pt x="42418" y="112649"/>
                    <a:pt x="38862" y="111633"/>
                    <a:pt x="35433" y="110109"/>
                  </a:cubicBezTo>
                  <a:cubicBezTo>
                    <a:pt x="32004" y="108585"/>
                    <a:pt x="28702" y="106934"/>
                    <a:pt x="25527" y="104775"/>
                  </a:cubicBezTo>
                  <a:cubicBezTo>
                    <a:pt x="22352" y="102616"/>
                    <a:pt x="19558" y="100330"/>
                    <a:pt x="16891" y="97663"/>
                  </a:cubicBezTo>
                  <a:cubicBezTo>
                    <a:pt x="14224" y="94996"/>
                    <a:pt x="11811" y="92075"/>
                    <a:pt x="9779" y="89027"/>
                  </a:cubicBezTo>
                  <a:cubicBezTo>
                    <a:pt x="7747" y="85979"/>
                    <a:pt x="5969" y="82550"/>
                    <a:pt x="4445" y="79121"/>
                  </a:cubicBezTo>
                  <a:cubicBezTo>
                    <a:pt x="2921" y="75692"/>
                    <a:pt x="1905" y="72136"/>
                    <a:pt x="1143" y="68453"/>
                  </a:cubicBezTo>
                  <a:cubicBezTo>
                    <a:pt x="381" y="64770"/>
                    <a:pt x="0" y="61087"/>
                    <a:pt x="0" y="57277"/>
                  </a:cubicBezTo>
                  <a:cubicBezTo>
                    <a:pt x="0" y="53467"/>
                    <a:pt x="381" y="49784"/>
                    <a:pt x="1143" y="46101"/>
                  </a:cubicBezTo>
                  <a:cubicBezTo>
                    <a:pt x="1905" y="42418"/>
                    <a:pt x="2921" y="38862"/>
                    <a:pt x="4445" y="35433"/>
                  </a:cubicBezTo>
                  <a:cubicBezTo>
                    <a:pt x="5969" y="32004"/>
                    <a:pt x="7620" y="28702"/>
                    <a:pt x="9779" y="25527"/>
                  </a:cubicBezTo>
                  <a:cubicBezTo>
                    <a:pt x="11938" y="22352"/>
                    <a:pt x="14224" y="19558"/>
                    <a:pt x="16891" y="16891"/>
                  </a:cubicBezTo>
                  <a:cubicBezTo>
                    <a:pt x="19558" y="14224"/>
                    <a:pt x="22479" y="11811"/>
                    <a:pt x="25527" y="9779"/>
                  </a:cubicBezTo>
                  <a:cubicBezTo>
                    <a:pt x="28575" y="7747"/>
                    <a:pt x="32004" y="5969"/>
                    <a:pt x="35433" y="4445"/>
                  </a:cubicBezTo>
                  <a:cubicBezTo>
                    <a:pt x="38862" y="2921"/>
                    <a:pt x="42418" y="1905"/>
                    <a:pt x="46101" y="1143"/>
                  </a:cubicBezTo>
                  <a:cubicBezTo>
                    <a:pt x="49784" y="381"/>
                    <a:pt x="53467" y="0"/>
                    <a:pt x="57277" y="0"/>
                  </a:cubicBezTo>
                  <a:cubicBezTo>
                    <a:pt x="61087" y="0"/>
                    <a:pt x="64770" y="381"/>
                    <a:pt x="68453" y="1143"/>
                  </a:cubicBezTo>
                  <a:cubicBezTo>
                    <a:pt x="72136" y="1905"/>
                    <a:pt x="75692" y="2921"/>
                    <a:pt x="79121" y="4445"/>
                  </a:cubicBezTo>
                  <a:cubicBezTo>
                    <a:pt x="82550" y="5969"/>
                    <a:pt x="85852" y="7620"/>
                    <a:pt x="89027" y="9779"/>
                  </a:cubicBezTo>
                  <a:cubicBezTo>
                    <a:pt x="92202" y="11938"/>
                    <a:pt x="94996" y="14224"/>
                    <a:pt x="97663" y="16891"/>
                  </a:cubicBezTo>
                  <a:cubicBezTo>
                    <a:pt x="100330" y="19558"/>
                    <a:pt x="102743" y="22479"/>
                    <a:pt x="104775" y="25527"/>
                  </a:cubicBezTo>
                  <a:cubicBezTo>
                    <a:pt x="106807" y="28575"/>
                    <a:pt x="108585" y="32004"/>
                    <a:pt x="110109" y="35433"/>
                  </a:cubicBezTo>
                  <a:cubicBezTo>
                    <a:pt x="111633" y="38862"/>
                    <a:pt x="112649" y="42418"/>
                    <a:pt x="113411" y="46101"/>
                  </a:cubicBezTo>
                  <a:cubicBezTo>
                    <a:pt x="114173" y="49784"/>
                    <a:pt x="114554" y="53467"/>
                    <a:pt x="114554" y="57277"/>
                  </a:cubicBezTo>
                  <a:close/>
                </a:path>
              </a:pathLst>
            </a:custGeom>
            <a:solidFill>
              <a:srgbClr val="2A2E3A"/>
            </a:solidFill>
            <a:ln w="12700">
              <a:solidFill>
                <a:srgbClr val="000000"/>
              </a:solidFill>
            </a:ln>
          </p:spPr>
        </p:sp>
        <p:sp>
          <p:nvSpPr>
            <p:cNvPr id="7" name="Freeform 7"/>
            <p:cNvSpPr/>
            <p:nvPr/>
          </p:nvSpPr>
          <p:spPr>
            <a:xfrm>
              <a:off x="740791" y="5333874"/>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59"/>
                    <a:pt x="96139" y="126492"/>
                    <a:pt x="92075" y="128270"/>
                  </a:cubicBezTo>
                  <a:cubicBezTo>
                    <a:pt x="88011" y="130048"/>
                    <a:pt x="83820" y="131190"/>
                    <a:pt x="79629" y="132080"/>
                  </a:cubicBezTo>
                  <a:cubicBezTo>
                    <a:pt x="75438" y="132969"/>
                    <a:pt x="70993" y="133350"/>
                    <a:pt x="66675" y="133350"/>
                  </a:cubicBezTo>
                  <a:cubicBezTo>
                    <a:pt x="62357" y="133350"/>
                    <a:pt x="57912" y="132969"/>
                    <a:pt x="53721" y="132080"/>
                  </a:cubicBezTo>
                  <a:cubicBezTo>
                    <a:pt x="49530" y="131190"/>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858" y="96139"/>
                    <a:pt x="5080" y="92075"/>
                  </a:cubicBezTo>
                  <a:cubicBezTo>
                    <a:pt x="3302" y="88011"/>
                    <a:pt x="2159" y="83820"/>
                    <a:pt x="1270" y="79629"/>
                  </a:cubicBezTo>
                  <a:cubicBezTo>
                    <a:pt x="381" y="75438"/>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4"/>
                    <a:pt x="16510" y="22733"/>
                    <a:pt x="19558" y="19558"/>
                  </a:cubicBezTo>
                  <a:cubicBezTo>
                    <a:pt x="22606" y="16383"/>
                    <a:pt x="26035" y="13715"/>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09"/>
                    <a:pt x="113792" y="19558"/>
                  </a:cubicBezTo>
                  <a:cubicBezTo>
                    <a:pt x="116967" y="22606"/>
                    <a:pt x="119634" y="26034"/>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2A2E3A"/>
            </a:solidFill>
            <a:ln w="12700">
              <a:solidFill>
                <a:srgbClr val="000000"/>
              </a:solidFill>
            </a:ln>
          </p:spPr>
        </p:sp>
        <p:sp>
          <p:nvSpPr>
            <p:cNvPr id="8" name="Freeform 8"/>
            <p:cNvSpPr/>
            <p:nvPr/>
          </p:nvSpPr>
          <p:spPr>
            <a:xfrm>
              <a:off x="740791" y="7076949"/>
              <a:ext cx="133350" cy="133350"/>
            </a:xfrm>
            <a:custGeom>
              <a:avLst/>
              <a:gdLst/>
              <a:ahLst/>
              <a:cxnLst/>
              <a:rect l="l" t="t" r="r" b="b"/>
              <a:pathLst>
                <a:path w="133350" h="133350">
                  <a:moveTo>
                    <a:pt x="133350" y="66675"/>
                  </a:moveTo>
                  <a:cubicBezTo>
                    <a:pt x="133350" y="70993"/>
                    <a:pt x="132969" y="75438"/>
                    <a:pt x="132080" y="79629"/>
                  </a:cubicBezTo>
                  <a:cubicBezTo>
                    <a:pt x="131191" y="83819"/>
                    <a:pt x="129921" y="88138"/>
                    <a:pt x="128270" y="92075"/>
                  </a:cubicBezTo>
                  <a:cubicBezTo>
                    <a:pt x="126619" y="96012"/>
                    <a:pt x="124587" y="99949"/>
                    <a:pt x="122047" y="103631"/>
                  </a:cubicBezTo>
                  <a:cubicBezTo>
                    <a:pt x="119507" y="107315"/>
                    <a:pt x="116840" y="110617"/>
                    <a:pt x="113792" y="113792"/>
                  </a:cubicBezTo>
                  <a:cubicBezTo>
                    <a:pt x="110744" y="116967"/>
                    <a:pt x="107315" y="119633"/>
                    <a:pt x="103632" y="122046"/>
                  </a:cubicBezTo>
                  <a:cubicBezTo>
                    <a:pt x="99949" y="124459"/>
                    <a:pt x="96139" y="126492"/>
                    <a:pt x="92075" y="128269"/>
                  </a:cubicBezTo>
                  <a:cubicBezTo>
                    <a:pt x="88011" y="130048"/>
                    <a:pt x="83820" y="131191"/>
                    <a:pt x="79629" y="132080"/>
                  </a:cubicBezTo>
                  <a:cubicBezTo>
                    <a:pt x="75438" y="132968"/>
                    <a:pt x="70993" y="133350"/>
                    <a:pt x="66675" y="133350"/>
                  </a:cubicBezTo>
                  <a:cubicBezTo>
                    <a:pt x="62357" y="133350"/>
                    <a:pt x="57912" y="132968"/>
                    <a:pt x="53721" y="132080"/>
                  </a:cubicBezTo>
                  <a:cubicBezTo>
                    <a:pt x="49530" y="131191"/>
                    <a:pt x="45212" y="129920"/>
                    <a:pt x="41275" y="128269"/>
                  </a:cubicBezTo>
                  <a:cubicBezTo>
                    <a:pt x="37338" y="126618"/>
                    <a:pt x="33401" y="124587"/>
                    <a:pt x="29718" y="122046"/>
                  </a:cubicBezTo>
                  <a:cubicBezTo>
                    <a:pt x="26035" y="119506"/>
                    <a:pt x="22733" y="116840"/>
                    <a:pt x="19558" y="113792"/>
                  </a:cubicBezTo>
                  <a:cubicBezTo>
                    <a:pt x="16383" y="110743"/>
                    <a:pt x="13716" y="107315"/>
                    <a:pt x="11303" y="103631"/>
                  </a:cubicBezTo>
                  <a:cubicBezTo>
                    <a:pt x="8890" y="99949"/>
                    <a:pt x="6858" y="96139"/>
                    <a:pt x="5080" y="92075"/>
                  </a:cubicBezTo>
                  <a:cubicBezTo>
                    <a:pt x="3302" y="88011"/>
                    <a:pt x="2159" y="83819"/>
                    <a:pt x="1270" y="79629"/>
                  </a:cubicBezTo>
                  <a:cubicBezTo>
                    <a:pt x="381" y="75438"/>
                    <a:pt x="0" y="70993"/>
                    <a:pt x="0" y="66675"/>
                  </a:cubicBezTo>
                  <a:cubicBezTo>
                    <a:pt x="0" y="62356"/>
                    <a:pt x="381" y="57912"/>
                    <a:pt x="1270" y="53720"/>
                  </a:cubicBezTo>
                  <a:cubicBezTo>
                    <a:pt x="2159" y="49530"/>
                    <a:pt x="3429" y="45212"/>
                    <a:pt x="5080" y="41275"/>
                  </a:cubicBezTo>
                  <a:cubicBezTo>
                    <a:pt x="6731" y="37338"/>
                    <a:pt x="8763" y="33401"/>
                    <a:pt x="11303" y="29718"/>
                  </a:cubicBezTo>
                  <a:cubicBezTo>
                    <a:pt x="13843" y="26034"/>
                    <a:pt x="16510" y="22732"/>
                    <a:pt x="19558" y="19557"/>
                  </a:cubicBezTo>
                  <a:cubicBezTo>
                    <a:pt x="22606" y="16382"/>
                    <a:pt x="26035" y="13716"/>
                    <a:pt x="29718" y="11303"/>
                  </a:cubicBezTo>
                  <a:cubicBezTo>
                    <a:pt x="33401" y="8890"/>
                    <a:pt x="37211" y="6857"/>
                    <a:pt x="41275" y="5080"/>
                  </a:cubicBezTo>
                  <a:cubicBezTo>
                    <a:pt x="45339" y="3302"/>
                    <a:pt x="49530" y="2158"/>
                    <a:pt x="53721" y="1269"/>
                  </a:cubicBezTo>
                  <a:cubicBezTo>
                    <a:pt x="57912" y="381"/>
                    <a:pt x="62357" y="0"/>
                    <a:pt x="66675" y="0"/>
                  </a:cubicBezTo>
                  <a:cubicBezTo>
                    <a:pt x="70993" y="0"/>
                    <a:pt x="75438" y="381"/>
                    <a:pt x="79629" y="1269"/>
                  </a:cubicBezTo>
                  <a:cubicBezTo>
                    <a:pt x="83820" y="2158"/>
                    <a:pt x="88138" y="3429"/>
                    <a:pt x="92075" y="5080"/>
                  </a:cubicBezTo>
                  <a:cubicBezTo>
                    <a:pt x="96012" y="6731"/>
                    <a:pt x="99949" y="8763"/>
                    <a:pt x="103632" y="11303"/>
                  </a:cubicBezTo>
                  <a:cubicBezTo>
                    <a:pt x="107315" y="13843"/>
                    <a:pt x="110617" y="16509"/>
                    <a:pt x="113792" y="19557"/>
                  </a:cubicBezTo>
                  <a:cubicBezTo>
                    <a:pt x="116967" y="22606"/>
                    <a:pt x="119634" y="26034"/>
                    <a:pt x="122047" y="29718"/>
                  </a:cubicBezTo>
                  <a:cubicBezTo>
                    <a:pt x="124460" y="33401"/>
                    <a:pt x="126492" y="37211"/>
                    <a:pt x="128270" y="41275"/>
                  </a:cubicBezTo>
                  <a:cubicBezTo>
                    <a:pt x="130048" y="45339"/>
                    <a:pt x="131191" y="49530"/>
                    <a:pt x="132080" y="53720"/>
                  </a:cubicBezTo>
                  <a:cubicBezTo>
                    <a:pt x="132969" y="57912"/>
                    <a:pt x="133350" y="62356"/>
                    <a:pt x="133350" y="66675"/>
                  </a:cubicBezTo>
                  <a:close/>
                </a:path>
              </a:pathLst>
            </a:custGeom>
            <a:solidFill>
              <a:srgbClr val="2A2E3A"/>
            </a:solidFill>
            <a:ln w="12700">
              <a:solidFill>
                <a:srgbClr val="000000"/>
              </a:solidFill>
            </a:ln>
          </p:spPr>
        </p:sp>
      </p:grpSp>
      <p:sp>
        <p:nvSpPr>
          <p:cNvPr id="9" name="TextBox 9"/>
          <p:cNvSpPr txBox="1"/>
          <p:nvPr/>
        </p:nvSpPr>
        <p:spPr>
          <a:xfrm>
            <a:off x="6133976" y="841553"/>
            <a:ext cx="6140110" cy="998830"/>
          </a:xfrm>
          <a:prstGeom prst="rect">
            <a:avLst/>
          </a:prstGeom>
        </p:spPr>
        <p:txBody>
          <a:bodyPr lIns="0" tIns="0" rIns="0" bIns="0" rtlCol="0" anchor="t">
            <a:spAutoFit/>
          </a:bodyPr>
          <a:lstStyle/>
          <a:p>
            <a:pPr algn="l">
              <a:lnSpc>
                <a:spcPts val="8068"/>
              </a:lnSpc>
            </a:pPr>
            <a:r>
              <a:rPr lang="en-US" sz="5599" b="1">
                <a:solidFill>
                  <a:srgbClr val="2A2E3A"/>
                </a:solidFill>
                <a:latin typeface="Times New Roman Bold"/>
                <a:ea typeface="Times New Roman Bold"/>
                <a:cs typeface="Times New Roman Bold"/>
                <a:sym typeface="Times New Roman Bold"/>
              </a:rPr>
              <a:t>DISADVANTAGES</a:t>
            </a:r>
          </a:p>
        </p:txBody>
      </p:sp>
      <p:sp>
        <p:nvSpPr>
          <p:cNvPr id="10" name="TextBox 10"/>
          <p:cNvSpPr txBox="1"/>
          <p:nvPr/>
        </p:nvSpPr>
        <p:spPr>
          <a:xfrm>
            <a:off x="6526759" y="1698441"/>
            <a:ext cx="113328" cy="980237"/>
          </a:xfrm>
          <a:prstGeom prst="rect">
            <a:avLst/>
          </a:prstGeom>
        </p:spPr>
        <p:txBody>
          <a:bodyPr lIns="0" tIns="0" rIns="0" bIns="0" rtlCol="0" anchor="t">
            <a:spAutoFit/>
          </a:bodyPr>
          <a:lstStyle/>
          <a:p>
            <a:pPr algn="l">
              <a:lnSpc>
                <a:spcPts val="8748"/>
              </a:lnSpc>
            </a:pPr>
            <a:r>
              <a:rPr lang="en-US" sz="3499" b="1">
                <a:solidFill>
                  <a:srgbClr val="2A2E3A"/>
                </a:solidFill>
                <a:latin typeface="Times New Roman Bold"/>
                <a:ea typeface="Times New Roman Bold"/>
                <a:cs typeface="Times New Roman Bold"/>
                <a:sym typeface="Times New Roman Bold"/>
              </a:rPr>
              <a:t> </a:t>
            </a:r>
          </a:p>
        </p:txBody>
      </p:sp>
      <p:sp>
        <p:nvSpPr>
          <p:cNvPr id="11" name="TextBox 11"/>
          <p:cNvSpPr txBox="1"/>
          <p:nvPr/>
        </p:nvSpPr>
        <p:spPr>
          <a:xfrm>
            <a:off x="1518571" y="4921339"/>
            <a:ext cx="3487893" cy="1180897"/>
          </a:xfrm>
          <a:prstGeom prst="rect">
            <a:avLst/>
          </a:prstGeom>
        </p:spPr>
        <p:txBody>
          <a:bodyPr lIns="0" tIns="0" rIns="0" bIns="0" rtlCol="0" anchor="t">
            <a:spAutoFit/>
          </a:bodyPr>
          <a:lstStyle/>
          <a:p>
            <a:pPr algn="r">
              <a:lnSpc>
                <a:spcPts val="4485"/>
              </a:lnSpc>
            </a:pPr>
            <a:r>
              <a:rPr lang="en-US" sz="3199">
                <a:solidFill>
                  <a:srgbClr val="2A2E3A"/>
                </a:solidFill>
                <a:latin typeface="Times New Roman"/>
                <a:ea typeface="Times New Roman"/>
                <a:cs typeface="Times New Roman"/>
                <a:sym typeface="Times New Roman"/>
              </a:rPr>
              <a:t> </a:t>
            </a:r>
          </a:p>
          <a:p>
            <a:pPr algn="r">
              <a:lnSpc>
                <a:spcPts val="4906"/>
              </a:lnSpc>
            </a:pPr>
            <a:r>
              <a:rPr lang="en-US" sz="3499" b="1">
                <a:solidFill>
                  <a:srgbClr val="2A2E3A"/>
                </a:solidFill>
                <a:latin typeface="Times New Roman Bold"/>
                <a:ea typeface="Times New Roman Bold"/>
                <a:cs typeface="Times New Roman Bold"/>
                <a:sym typeface="Times New Roman Bold"/>
              </a:rPr>
              <a:t>Scalability Issues:</a:t>
            </a:r>
          </a:p>
        </p:txBody>
      </p:sp>
      <p:sp>
        <p:nvSpPr>
          <p:cNvPr id="12" name="TextBox 12"/>
          <p:cNvSpPr txBox="1"/>
          <p:nvPr/>
        </p:nvSpPr>
        <p:spPr>
          <a:xfrm>
            <a:off x="2331901" y="6102439"/>
            <a:ext cx="103613" cy="563928"/>
          </a:xfrm>
          <a:prstGeom prst="rect">
            <a:avLst/>
          </a:prstGeom>
        </p:spPr>
        <p:txBody>
          <a:bodyPr lIns="0" tIns="0" rIns="0" bIns="0" rtlCol="0" anchor="t">
            <a:spAutoFit/>
          </a:bodyPr>
          <a:lstStyle/>
          <a:p>
            <a:pPr algn="l">
              <a:lnSpc>
                <a:spcPts val="4485"/>
              </a:lnSpc>
            </a:pPr>
            <a:r>
              <a:rPr lang="en-US" sz="3199">
                <a:solidFill>
                  <a:srgbClr val="2A2E3A"/>
                </a:solidFill>
                <a:latin typeface="Times New Roman"/>
                <a:ea typeface="Times New Roman"/>
                <a:cs typeface="Times New Roman"/>
                <a:sym typeface="Times New Roman"/>
              </a:rPr>
              <a:t> </a:t>
            </a:r>
          </a:p>
        </p:txBody>
      </p:sp>
      <p:sp>
        <p:nvSpPr>
          <p:cNvPr id="13" name="TextBox 13"/>
          <p:cNvSpPr txBox="1"/>
          <p:nvPr/>
        </p:nvSpPr>
        <p:spPr>
          <a:xfrm>
            <a:off x="4193581" y="6664414"/>
            <a:ext cx="103613" cy="563928"/>
          </a:xfrm>
          <a:prstGeom prst="rect">
            <a:avLst/>
          </a:prstGeom>
        </p:spPr>
        <p:txBody>
          <a:bodyPr lIns="0" tIns="0" rIns="0" bIns="0" rtlCol="0" anchor="t">
            <a:spAutoFit/>
          </a:bodyPr>
          <a:lstStyle/>
          <a:p>
            <a:pPr algn="l">
              <a:lnSpc>
                <a:spcPts val="4485"/>
              </a:lnSpc>
            </a:pPr>
            <a:r>
              <a:rPr lang="en-US" sz="3199">
                <a:solidFill>
                  <a:srgbClr val="2A2E3A"/>
                </a:solidFill>
                <a:latin typeface="Times New Roman"/>
                <a:ea typeface="Times New Roman"/>
                <a:cs typeface="Times New Roman"/>
                <a:sym typeface="Times New Roman"/>
              </a:rPr>
              <a:t> </a:t>
            </a:r>
          </a:p>
        </p:txBody>
      </p:sp>
      <p:sp>
        <p:nvSpPr>
          <p:cNvPr id="14" name="TextBox 14"/>
          <p:cNvSpPr txBox="1"/>
          <p:nvPr/>
        </p:nvSpPr>
        <p:spPr>
          <a:xfrm>
            <a:off x="1518571" y="7223131"/>
            <a:ext cx="4579144" cy="624599"/>
          </a:xfrm>
          <a:prstGeom prst="rect">
            <a:avLst/>
          </a:prstGeom>
        </p:spPr>
        <p:txBody>
          <a:bodyPr lIns="0" tIns="0" rIns="0" bIns="0" rtlCol="0" anchor="t">
            <a:spAutoFit/>
          </a:bodyPr>
          <a:lstStyle/>
          <a:p>
            <a:pPr algn="l">
              <a:lnSpc>
                <a:spcPts val="4906"/>
              </a:lnSpc>
            </a:pPr>
            <a:r>
              <a:rPr lang="en-US" sz="3499" b="1">
                <a:solidFill>
                  <a:srgbClr val="2A2E3A"/>
                </a:solidFill>
                <a:latin typeface="Times New Roman Bold"/>
                <a:ea typeface="Times New Roman Bold"/>
                <a:cs typeface="Times New Roman Bold"/>
                <a:sym typeface="Times New Roman Bold"/>
              </a:rPr>
              <a:t>Resource Misallocation:</a:t>
            </a:r>
          </a:p>
        </p:txBody>
      </p:sp>
      <p:sp>
        <p:nvSpPr>
          <p:cNvPr id="15" name="TextBox 15"/>
          <p:cNvSpPr txBox="1"/>
          <p:nvPr/>
        </p:nvSpPr>
        <p:spPr>
          <a:xfrm>
            <a:off x="3403321" y="7845514"/>
            <a:ext cx="103613" cy="563928"/>
          </a:xfrm>
          <a:prstGeom prst="rect">
            <a:avLst/>
          </a:prstGeom>
        </p:spPr>
        <p:txBody>
          <a:bodyPr lIns="0" tIns="0" rIns="0" bIns="0" rtlCol="0" anchor="t">
            <a:spAutoFit/>
          </a:bodyPr>
          <a:lstStyle/>
          <a:p>
            <a:pPr algn="l">
              <a:lnSpc>
                <a:spcPts val="4485"/>
              </a:lnSpc>
            </a:pPr>
            <a:r>
              <a:rPr lang="en-US" sz="3199">
                <a:solidFill>
                  <a:srgbClr val="2A2E3A"/>
                </a:solidFill>
                <a:latin typeface="Times New Roman"/>
                <a:ea typeface="Times New Roman"/>
                <a:cs typeface="Times New Roman"/>
                <a:sym typeface="Times New Roman"/>
              </a:rPr>
              <a:t> </a:t>
            </a:r>
          </a:p>
        </p:txBody>
      </p:sp>
      <p:sp>
        <p:nvSpPr>
          <p:cNvPr id="16" name="TextBox 16"/>
          <p:cNvSpPr txBox="1"/>
          <p:nvPr/>
        </p:nvSpPr>
        <p:spPr>
          <a:xfrm>
            <a:off x="1518571" y="2060391"/>
            <a:ext cx="5372633" cy="618287"/>
          </a:xfrm>
          <a:prstGeom prst="rect">
            <a:avLst/>
          </a:prstGeom>
        </p:spPr>
        <p:txBody>
          <a:bodyPr lIns="0" tIns="0" rIns="0" bIns="0" rtlCol="0" anchor="t">
            <a:spAutoFit/>
          </a:bodyPr>
          <a:lstStyle/>
          <a:p>
            <a:pPr algn="l">
              <a:lnSpc>
                <a:spcPts val="4941"/>
              </a:lnSpc>
            </a:pPr>
            <a:r>
              <a:rPr lang="en-US" sz="3499" b="1">
                <a:solidFill>
                  <a:srgbClr val="2A2E3A"/>
                </a:solidFill>
                <a:latin typeface="Times New Roman Bold"/>
                <a:ea typeface="Times New Roman Bold"/>
                <a:cs typeface="Times New Roman Bold"/>
                <a:sym typeface="Times New Roman Bold"/>
              </a:rPr>
              <a:t>Human Error and Fatigue:</a:t>
            </a:r>
          </a:p>
        </p:txBody>
      </p:sp>
      <p:sp>
        <p:nvSpPr>
          <p:cNvPr id="17" name="TextBox 17"/>
          <p:cNvSpPr txBox="1"/>
          <p:nvPr/>
        </p:nvSpPr>
        <p:spPr>
          <a:xfrm>
            <a:off x="3121495" y="2663914"/>
            <a:ext cx="103613" cy="573453"/>
          </a:xfrm>
          <a:prstGeom prst="rect">
            <a:avLst/>
          </a:prstGeom>
        </p:spPr>
        <p:txBody>
          <a:bodyPr lIns="0" tIns="0" rIns="0" bIns="0" rtlCol="0" anchor="t">
            <a:spAutoFit/>
          </a:bodyPr>
          <a:lstStyle/>
          <a:p>
            <a:pPr algn="l">
              <a:lnSpc>
                <a:spcPts val="4517"/>
              </a:lnSpc>
            </a:pPr>
            <a:r>
              <a:rPr lang="en-US" sz="3199">
                <a:solidFill>
                  <a:srgbClr val="2A2E3A"/>
                </a:solidFill>
                <a:latin typeface="Times New Roman"/>
                <a:ea typeface="Times New Roman"/>
                <a:cs typeface="Times New Roman"/>
                <a:sym typeface="Times New Roman"/>
              </a:rPr>
              <a:t> </a:t>
            </a:r>
          </a:p>
        </p:txBody>
      </p:sp>
      <p:sp>
        <p:nvSpPr>
          <p:cNvPr id="18" name="TextBox 18"/>
          <p:cNvSpPr txBox="1"/>
          <p:nvPr/>
        </p:nvSpPr>
        <p:spPr>
          <a:xfrm>
            <a:off x="1880368" y="6102439"/>
            <a:ext cx="13687326" cy="563815"/>
          </a:xfrm>
          <a:prstGeom prst="rect">
            <a:avLst/>
          </a:prstGeom>
        </p:spPr>
        <p:txBody>
          <a:bodyPr lIns="0" tIns="0" rIns="0" bIns="0" rtlCol="0" anchor="t">
            <a:spAutoFit/>
          </a:bodyPr>
          <a:lstStyle/>
          <a:p>
            <a:pPr algn="l">
              <a:lnSpc>
                <a:spcPts val="4424"/>
              </a:lnSpc>
            </a:pPr>
            <a:r>
              <a:rPr lang="en-US" sz="3199" dirty="0">
                <a:solidFill>
                  <a:srgbClr val="2A2E3A"/>
                </a:solidFill>
                <a:latin typeface="Times New Roman"/>
                <a:ea typeface="Times New Roman"/>
                <a:cs typeface="Times New Roman"/>
                <a:sym typeface="Times New Roman"/>
              </a:rPr>
              <a:t>As student numbers grow, manual evaluation becomes increasingly impractical and </a:t>
            </a:r>
          </a:p>
        </p:txBody>
      </p:sp>
      <p:sp>
        <p:nvSpPr>
          <p:cNvPr id="19" name="TextBox 19"/>
          <p:cNvSpPr txBox="1"/>
          <p:nvPr/>
        </p:nvSpPr>
        <p:spPr>
          <a:xfrm>
            <a:off x="1880368" y="6664415"/>
            <a:ext cx="8559032" cy="519373"/>
          </a:xfrm>
          <a:prstGeom prst="rect">
            <a:avLst/>
          </a:prstGeom>
        </p:spPr>
        <p:txBody>
          <a:bodyPr wrap="square" lIns="0" tIns="0" rIns="0" bIns="0" rtlCol="0" anchor="t">
            <a:spAutoFit/>
          </a:bodyPr>
          <a:lstStyle/>
          <a:p>
            <a:pPr algn="l">
              <a:lnSpc>
                <a:spcPts val="4424"/>
              </a:lnSpc>
            </a:pPr>
            <a:r>
              <a:rPr lang="en-US" sz="3199" dirty="0">
                <a:solidFill>
                  <a:srgbClr val="2A2E3A"/>
                </a:solidFill>
                <a:latin typeface="Times New Roman"/>
                <a:ea typeface="Times New Roman"/>
                <a:cs typeface="Times New Roman"/>
                <a:sym typeface="Times New Roman"/>
              </a:rPr>
              <a:t>unsustainable, straining educational institutions.</a:t>
            </a:r>
          </a:p>
        </p:txBody>
      </p:sp>
      <p:sp>
        <p:nvSpPr>
          <p:cNvPr id="20" name="TextBox 20"/>
          <p:cNvSpPr txBox="1"/>
          <p:nvPr/>
        </p:nvSpPr>
        <p:spPr>
          <a:xfrm>
            <a:off x="1981867" y="7845514"/>
            <a:ext cx="15232162" cy="563815"/>
          </a:xfrm>
          <a:prstGeom prst="rect">
            <a:avLst/>
          </a:prstGeom>
        </p:spPr>
        <p:txBody>
          <a:bodyPr lIns="0" tIns="0" rIns="0" bIns="0" rtlCol="0" anchor="t">
            <a:spAutoFit/>
          </a:bodyPr>
          <a:lstStyle/>
          <a:p>
            <a:pPr algn="l">
              <a:lnSpc>
                <a:spcPts val="4424"/>
              </a:lnSpc>
            </a:pPr>
            <a:r>
              <a:rPr lang="en-US" sz="3199">
                <a:solidFill>
                  <a:srgbClr val="2A2E3A"/>
                </a:solidFill>
                <a:latin typeface="Times New Roman"/>
                <a:ea typeface="Times New Roman"/>
                <a:cs typeface="Times New Roman"/>
                <a:sym typeface="Times New Roman"/>
              </a:rPr>
              <a:t>Valuable faculty time, which could be dedicated to teaching or research, is instead consumed </a:t>
            </a:r>
          </a:p>
        </p:txBody>
      </p:sp>
      <p:sp>
        <p:nvSpPr>
          <p:cNvPr id="21" name="TextBox 21"/>
          <p:cNvSpPr txBox="1"/>
          <p:nvPr/>
        </p:nvSpPr>
        <p:spPr>
          <a:xfrm>
            <a:off x="2083518" y="8407489"/>
            <a:ext cx="4488485" cy="563928"/>
          </a:xfrm>
          <a:prstGeom prst="rect">
            <a:avLst/>
          </a:prstGeom>
        </p:spPr>
        <p:txBody>
          <a:bodyPr lIns="0" tIns="0" rIns="0" bIns="0" rtlCol="0" anchor="t">
            <a:spAutoFit/>
          </a:bodyPr>
          <a:lstStyle/>
          <a:p>
            <a:pPr algn="l">
              <a:lnSpc>
                <a:spcPts val="4424"/>
              </a:lnSpc>
            </a:pPr>
            <a:r>
              <a:rPr lang="en-US" sz="3199">
                <a:solidFill>
                  <a:srgbClr val="2A2E3A"/>
                </a:solidFill>
                <a:latin typeface="Times New Roman"/>
                <a:ea typeface="Times New Roman"/>
                <a:cs typeface="Times New Roman"/>
                <a:sym typeface="Times New Roman"/>
              </a:rPr>
              <a:t>by repetitive grading tasks.</a:t>
            </a:r>
          </a:p>
        </p:txBody>
      </p:sp>
      <p:sp>
        <p:nvSpPr>
          <p:cNvPr id="22" name="TextBox 22"/>
          <p:cNvSpPr txBox="1"/>
          <p:nvPr/>
        </p:nvSpPr>
        <p:spPr>
          <a:xfrm>
            <a:off x="1880368" y="2673439"/>
            <a:ext cx="15132745" cy="563815"/>
          </a:xfrm>
          <a:prstGeom prst="rect">
            <a:avLst/>
          </a:prstGeom>
        </p:spPr>
        <p:txBody>
          <a:bodyPr lIns="0" tIns="0" rIns="0" bIns="0" rtlCol="0" anchor="t">
            <a:spAutoFit/>
          </a:bodyPr>
          <a:lstStyle/>
          <a:p>
            <a:pPr algn="l">
              <a:lnSpc>
                <a:spcPts val="4424"/>
              </a:lnSpc>
            </a:pPr>
            <a:r>
              <a:rPr lang="en-US" sz="3199">
                <a:solidFill>
                  <a:srgbClr val="2A2E3A"/>
                </a:solidFill>
                <a:latin typeface="Times New Roman"/>
                <a:ea typeface="Times New Roman"/>
                <a:cs typeface="Times New Roman"/>
                <a:sym typeface="Times New Roman"/>
              </a:rPr>
              <a:t>Manual grading is susceptible to errors due to human fatigue, leading to inconsistent scoring </a:t>
            </a:r>
          </a:p>
        </p:txBody>
      </p:sp>
      <p:sp>
        <p:nvSpPr>
          <p:cNvPr id="23" name="TextBox 23"/>
          <p:cNvSpPr txBox="1"/>
          <p:nvPr/>
        </p:nvSpPr>
        <p:spPr>
          <a:xfrm>
            <a:off x="1880368" y="3235414"/>
            <a:ext cx="6006970" cy="563928"/>
          </a:xfrm>
          <a:prstGeom prst="rect">
            <a:avLst/>
          </a:prstGeom>
        </p:spPr>
        <p:txBody>
          <a:bodyPr lIns="0" tIns="0" rIns="0" bIns="0" rtlCol="0" anchor="t">
            <a:spAutoFit/>
          </a:bodyPr>
          <a:lstStyle/>
          <a:p>
            <a:pPr algn="l">
              <a:lnSpc>
                <a:spcPts val="4424"/>
              </a:lnSpc>
            </a:pPr>
            <a:r>
              <a:rPr lang="en-US" sz="3199">
                <a:solidFill>
                  <a:srgbClr val="2A2E3A"/>
                </a:solidFill>
                <a:latin typeface="Times New Roman"/>
                <a:ea typeface="Times New Roman"/>
                <a:cs typeface="Times New Roman"/>
                <a:sym typeface="Times New Roman"/>
              </a:rPr>
              <a:t>and potential re-evaluation requests.</a:t>
            </a:r>
          </a:p>
        </p:txBody>
      </p:sp>
      <p:sp>
        <p:nvSpPr>
          <p:cNvPr id="24" name="TextBox 24"/>
          <p:cNvSpPr txBox="1"/>
          <p:nvPr/>
        </p:nvSpPr>
        <p:spPr>
          <a:xfrm>
            <a:off x="1555480" y="3797389"/>
            <a:ext cx="5016523" cy="519373"/>
          </a:xfrm>
          <a:prstGeom prst="rect">
            <a:avLst/>
          </a:prstGeom>
        </p:spPr>
        <p:txBody>
          <a:bodyPr wrap="square" lIns="0" tIns="0" rIns="0" bIns="0" rtlCol="0" anchor="t">
            <a:spAutoFit/>
          </a:bodyPr>
          <a:lstStyle/>
          <a:p>
            <a:pPr algn="l">
              <a:lnSpc>
                <a:spcPts val="4424"/>
              </a:lnSpc>
            </a:pPr>
            <a:r>
              <a:rPr lang="en-US" sz="3199" b="1" dirty="0">
                <a:solidFill>
                  <a:srgbClr val="2A2E3A"/>
                </a:solidFill>
                <a:latin typeface="Times New Roman Bold"/>
                <a:ea typeface="Times New Roman Bold"/>
                <a:cs typeface="Times New Roman Bold"/>
                <a:sym typeface="Times New Roman Bold"/>
              </a:rPr>
              <a:t>Delayed Feedback Cycle:</a:t>
            </a:r>
          </a:p>
        </p:txBody>
      </p:sp>
      <p:sp>
        <p:nvSpPr>
          <p:cNvPr id="25" name="TextBox 25"/>
          <p:cNvSpPr txBox="1"/>
          <p:nvPr/>
        </p:nvSpPr>
        <p:spPr>
          <a:xfrm>
            <a:off x="1873072" y="4359364"/>
            <a:ext cx="15835284" cy="563928"/>
          </a:xfrm>
          <a:prstGeom prst="rect">
            <a:avLst/>
          </a:prstGeom>
        </p:spPr>
        <p:txBody>
          <a:bodyPr lIns="0" tIns="0" rIns="0" bIns="0" rtlCol="0" anchor="t">
            <a:spAutoFit/>
          </a:bodyPr>
          <a:lstStyle/>
          <a:p>
            <a:pPr algn="l">
              <a:lnSpc>
                <a:spcPts val="4424"/>
              </a:lnSpc>
            </a:pPr>
            <a:r>
              <a:rPr lang="en-US" sz="3199" dirty="0">
                <a:solidFill>
                  <a:srgbClr val="2A2E3A"/>
                </a:solidFill>
                <a:latin typeface="Times New Roman"/>
                <a:ea typeface="Times New Roman"/>
                <a:cs typeface="Times New Roman"/>
                <a:sym typeface="Times New Roman"/>
              </a:rPr>
              <a:t>The protracted grading process results in delayed feedback to students, hindering their </a:t>
            </a:r>
            <a:r>
              <a:rPr lang="en-US" sz="3199" dirty="0" err="1">
                <a:solidFill>
                  <a:srgbClr val="2A2E3A"/>
                </a:solidFill>
                <a:latin typeface="Times New Roman"/>
                <a:ea typeface="Times New Roman"/>
                <a:cs typeface="Times New Roman"/>
                <a:sym typeface="Times New Roman"/>
              </a:rPr>
              <a:t>leaming</a:t>
            </a:r>
            <a:r>
              <a:rPr lang="en-US" sz="3199" dirty="0">
                <a:solidFill>
                  <a:srgbClr val="2A2E3A"/>
                </a:solidFill>
                <a:latin typeface="Times New Roman"/>
                <a:ea typeface="Times New Roman"/>
                <a:cs typeface="Times New Roman"/>
                <a:sym typeface="Times New Roman"/>
              </a:rPr>
              <a:t> </a:t>
            </a:r>
          </a:p>
        </p:txBody>
      </p:sp>
      <p:sp>
        <p:nvSpPr>
          <p:cNvPr id="26" name="TextBox 26"/>
          <p:cNvSpPr txBox="1"/>
          <p:nvPr/>
        </p:nvSpPr>
        <p:spPr>
          <a:xfrm>
            <a:off x="1981867" y="4921339"/>
            <a:ext cx="4909337" cy="519373"/>
          </a:xfrm>
          <a:prstGeom prst="rect">
            <a:avLst/>
          </a:prstGeom>
        </p:spPr>
        <p:txBody>
          <a:bodyPr wrap="square" lIns="0" tIns="0" rIns="0" bIns="0" rtlCol="0" anchor="t">
            <a:spAutoFit/>
          </a:bodyPr>
          <a:lstStyle/>
          <a:p>
            <a:pPr algn="l">
              <a:lnSpc>
                <a:spcPts val="4424"/>
              </a:lnSpc>
            </a:pPr>
            <a:r>
              <a:rPr lang="en-US" sz="3199" dirty="0">
                <a:solidFill>
                  <a:srgbClr val="2A2E3A"/>
                </a:solidFill>
                <a:latin typeface="Times New Roman"/>
                <a:ea typeface="Times New Roman"/>
                <a:cs typeface="Times New Roman"/>
                <a:sym typeface="Times New Roman"/>
              </a:rPr>
              <a:t>and improvement process.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198" y="1558928"/>
            <a:ext cx="17554575" cy="3581400"/>
          </a:xfrm>
          <a:custGeom>
            <a:avLst/>
            <a:gdLst/>
            <a:ahLst/>
            <a:cxnLst/>
            <a:rect l="l" t="t" r="r" b="b"/>
            <a:pathLst>
              <a:path w="17554575" h="3581400">
                <a:moveTo>
                  <a:pt x="0" y="0"/>
                </a:moveTo>
                <a:lnTo>
                  <a:pt x="17554575" y="0"/>
                </a:lnTo>
                <a:lnTo>
                  <a:pt x="17554575" y="3581400"/>
                </a:lnTo>
                <a:lnTo>
                  <a:pt x="0" y="3581400"/>
                </a:lnTo>
                <a:lnTo>
                  <a:pt x="0" y="0"/>
                </a:lnTo>
                <a:close/>
              </a:path>
            </a:pathLst>
          </a:custGeom>
          <a:blipFill>
            <a:blip r:embed="rId2"/>
            <a:stretch>
              <a:fillRect l="-599" t="-2821" r="-594" b="-103"/>
            </a:stretch>
          </a:blipFill>
        </p:spPr>
      </p:sp>
      <p:grpSp>
        <p:nvGrpSpPr>
          <p:cNvPr id="3" name="Group 3"/>
          <p:cNvGrpSpPr/>
          <p:nvPr/>
        </p:nvGrpSpPr>
        <p:grpSpPr>
          <a:xfrm>
            <a:off x="447675" y="5897880"/>
            <a:ext cx="133350" cy="133350"/>
            <a:chOff x="0" y="0"/>
            <a:chExt cx="133350" cy="133350"/>
          </a:xfrm>
        </p:grpSpPr>
        <p:sp>
          <p:nvSpPr>
            <p:cNvPr id="4" name="Freeform 4"/>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a:ln w="12700">
              <a:solidFill>
                <a:srgbClr val="000000"/>
              </a:solidFill>
            </a:ln>
          </p:spPr>
        </p:sp>
      </p:grpSp>
      <p:grpSp>
        <p:nvGrpSpPr>
          <p:cNvPr id="5" name="Group 5"/>
          <p:cNvGrpSpPr/>
          <p:nvPr/>
        </p:nvGrpSpPr>
        <p:grpSpPr>
          <a:xfrm>
            <a:off x="447675" y="7174230"/>
            <a:ext cx="133350" cy="133350"/>
            <a:chOff x="0" y="0"/>
            <a:chExt cx="133350" cy="133350"/>
          </a:xfrm>
        </p:grpSpPr>
        <p:sp>
          <p:nvSpPr>
            <p:cNvPr id="6" name="Freeform 6"/>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a:ln w="12700">
              <a:solidFill>
                <a:srgbClr val="000000"/>
              </a:solidFill>
            </a:ln>
          </p:spPr>
        </p:sp>
      </p:grpSp>
      <p:grpSp>
        <p:nvGrpSpPr>
          <p:cNvPr id="7" name="Group 7"/>
          <p:cNvGrpSpPr/>
          <p:nvPr/>
        </p:nvGrpSpPr>
        <p:grpSpPr>
          <a:xfrm>
            <a:off x="447675" y="8450580"/>
            <a:ext cx="133350" cy="133350"/>
            <a:chOff x="0" y="0"/>
            <a:chExt cx="133350" cy="133350"/>
          </a:xfrm>
        </p:grpSpPr>
        <p:sp>
          <p:nvSpPr>
            <p:cNvPr id="8" name="Freeform 8"/>
            <p:cNvSpPr/>
            <p:nvPr/>
          </p:nvSpPr>
          <p:spPr>
            <a:xfrm>
              <a:off x="0" y="0"/>
              <a:ext cx="133350" cy="133350"/>
            </a:xfrm>
            <a:custGeom>
              <a:avLst/>
              <a:gdLst/>
              <a:ahLst/>
              <a:cxnLst/>
              <a:rect l="l" t="t" r="r" b="b"/>
              <a:pathLst>
                <a:path w="133350" h="133350">
                  <a:moveTo>
                    <a:pt x="133350" y="66675"/>
                  </a:moveTo>
                  <a:cubicBezTo>
                    <a:pt x="133350" y="70993"/>
                    <a:pt x="132969" y="75438"/>
                    <a:pt x="132080" y="79629"/>
                  </a:cubicBezTo>
                  <a:cubicBezTo>
                    <a:pt x="131191" y="83820"/>
                    <a:pt x="129921" y="88138"/>
                    <a:pt x="128270" y="92075"/>
                  </a:cubicBezTo>
                  <a:cubicBezTo>
                    <a:pt x="126619" y="96012"/>
                    <a:pt x="124587" y="99949"/>
                    <a:pt x="122047" y="103632"/>
                  </a:cubicBezTo>
                  <a:cubicBezTo>
                    <a:pt x="119507" y="107315"/>
                    <a:pt x="116840" y="110617"/>
                    <a:pt x="113792" y="113792"/>
                  </a:cubicBezTo>
                  <a:cubicBezTo>
                    <a:pt x="110744" y="116967"/>
                    <a:pt x="107315" y="119634"/>
                    <a:pt x="103632" y="122047"/>
                  </a:cubicBezTo>
                  <a:cubicBezTo>
                    <a:pt x="99949" y="124460"/>
                    <a:pt x="96139" y="126492"/>
                    <a:pt x="92075" y="128270"/>
                  </a:cubicBezTo>
                  <a:cubicBezTo>
                    <a:pt x="88011" y="130048"/>
                    <a:pt x="83820" y="131191"/>
                    <a:pt x="79629" y="132080"/>
                  </a:cubicBezTo>
                  <a:cubicBezTo>
                    <a:pt x="75438" y="132969"/>
                    <a:pt x="70993" y="133350"/>
                    <a:pt x="66675" y="133350"/>
                  </a:cubicBezTo>
                  <a:cubicBezTo>
                    <a:pt x="62357" y="133350"/>
                    <a:pt x="57912" y="132969"/>
                    <a:pt x="53721" y="132080"/>
                  </a:cubicBezTo>
                  <a:cubicBezTo>
                    <a:pt x="49530" y="131191"/>
                    <a:pt x="45212" y="129921"/>
                    <a:pt x="41275" y="128270"/>
                  </a:cubicBezTo>
                  <a:cubicBezTo>
                    <a:pt x="37338" y="126619"/>
                    <a:pt x="33401" y="124587"/>
                    <a:pt x="29718" y="122047"/>
                  </a:cubicBezTo>
                  <a:cubicBezTo>
                    <a:pt x="26035" y="119507"/>
                    <a:pt x="22733" y="116840"/>
                    <a:pt x="19558" y="113792"/>
                  </a:cubicBezTo>
                  <a:cubicBezTo>
                    <a:pt x="16383" y="110744"/>
                    <a:pt x="13716" y="107315"/>
                    <a:pt x="11303" y="103632"/>
                  </a:cubicBezTo>
                  <a:cubicBezTo>
                    <a:pt x="8890" y="99949"/>
                    <a:pt x="6731" y="96266"/>
                    <a:pt x="5080" y="92202"/>
                  </a:cubicBezTo>
                  <a:cubicBezTo>
                    <a:pt x="3429" y="88138"/>
                    <a:pt x="2159" y="83947"/>
                    <a:pt x="1270" y="79629"/>
                  </a:cubicBezTo>
                  <a:cubicBezTo>
                    <a:pt x="381" y="75311"/>
                    <a:pt x="0" y="70993"/>
                    <a:pt x="0" y="66675"/>
                  </a:cubicBezTo>
                  <a:cubicBezTo>
                    <a:pt x="0" y="62357"/>
                    <a:pt x="381" y="57912"/>
                    <a:pt x="1270" y="53721"/>
                  </a:cubicBezTo>
                  <a:cubicBezTo>
                    <a:pt x="2159" y="49530"/>
                    <a:pt x="3429" y="45212"/>
                    <a:pt x="5080" y="41275"/>
                  </a:cubicBezTo>
                  <a:cubicBezTo>
                    <a:pt x="6731" y="37338"/>
                    <a:pt x="8763" y="33401"/>
                    <a:pt x="11303" y="29718"/>
                  </a:cubicBezTo>
                  <a:cubicBezTo>
                    <a:pt x="13843" y="26035"/>
                    <a:pt x="16510" y="22733"/>
                    <a:pt x="19558" y="19558"/>
                  </a:cubicBezTo>
                  <a:cubicBezTo>
                    <a:pt x="22606" y="16383"/>
                    <a:pt x="26035" y="13716"/>
                    <a:pt x="29718" y="11303"/>
                  </a:cubicBezTo>
                  <a:cubicBezTo>
                    <a:pt x="33401" y="8890"/>
                    <a:pt x="37211" y="6858"/>
                    <a:pt x="41275" y="5080"/>
                  </a:cubicBezTo>
                  <a:cubicBezTo>
                    <a:pt x="45339" y="3302"/>
                    <a:pt x="49530" y="2159"/>
                    <a:pt x="53721" y="1270"/>
                  </a:cubicBezTo>
                  <a:cubicBezTo>
                    <a:pt x="57912" y="381"/>
                    <a:pt x="62357" y="0"/>
                    <a:pt x="66675" y="0"/>
                  </a:cubicBezTo>
                  <a:cubicBezTo>
                    <a:pt x="70993" y="0"/>
                    <a:pt x="75438" y="381"/>
                    <a:pt x="79629" y="1270"/>
                  </a:cubicBezTo>
                  <a:cubicBezTo>
                    <a:pt x="83820" y="2159"/>
                    <a:pt x="88138" y="3429"/>
                    <a:pt x="92075" y="5080"/>
                  </a:cubicBezTo>
                  <a:cubicBezTo>
                    <a:pt x="96012" y="6731"/>
                    <a:pt x="99949" y="8763"/>
                    <a:pt x="103632" y="11303"/>
                  </a:cubicBezTo>
                  <a:cubicBezTo>
                    <a:pt x="107315" y="13843"/>
                    <a:pt x="110617" y="16510"/>
                    <a:pt x="113792" y="19558"/>
                  </a:cubicBezTo>
                  <a:cubicBezTo>
                    <a:pt x="116967" y="22606"/>
                    <a:pt x="119634" y="26035"/>
                    <a:pt x="122047" y="29718"/>
                  </a:cubicBezTo>
                  <a:cubicBezTo>
                    <a:pt x="124460" y="33401"/>
                    <a:pt x="126492" y="37211"/>
                    <a:pt x="128270" y="41275"/>
                  </a:cubicBezTo>
                  <a:cubicBezTo>
                    <a:pt x="130048" y="45339"/>
                    <a:pt x="131191" y="49530"/>
                    <a:pt x="132080" y="53721"/>
                  </a:cubicBezTo>
                  <a:cubicBezTo>
                    <a:pt x="132969" y="57912"/>
                    <a:pt x="133350" y="62357"/>
                    <a:pt x="133350" y="66675"/>
                  </a:cubicBezTo>
                  <a:close/>
                </a:path>
              </a:pathLst>
            </a:custGeom>
            <a:solidFill>
              <a:srgbClr val="000000"/>
            </a:solidFill>
            <a:ln w="12700">
              <a:solidFill>
                <a:srgbClr val="000000"/>
              </a:solidFill>
            </a:ln>
          </p:spPr>
        </p:sp>
      </p:grpSp>
      <p:grpSp>
        <p:nvGrpSpPr>
          <p:cNvPr id="9" name="Group 9"/>
          <p:cNvGrpSpPr/>
          <p:nvPr/>
        </p:nvGrpSpPr>
        <p:grpSpPr>
          <a:xfrm>
            <a:off x="6015085" y="845182"/>
            <a:ext cx="6257830" cy="184147"/>
            <a:chOff x="0" y="0"/>
            <a:chExt cx="6257823" cy="184150"/>
          </a:xfrm>
        </p:grpSpPr>
        <p:sp>
          <p:nvSpPr>
            <p:cNvPr id="10" name="Freeform 10"/>
            <p:cNvSpPr/>
            <p:nvPr/>
          </p:nvSpPr>
          <p:spPr>
            <a:xfrm>
              <a:off x="63500" y="63500"/>
              <a:ext cx="152400" cy="57150"/>
            </a:xfrm>
            <a:custGeom>
              <a:avLst/>
              <a:gdLst/>
              <a:ahLst/>
              <a:cxnLst/>
              <a:rect l="l" t="t" r="r" b="b"/>
              <a:pathLst>
                <a:path w="152400" h="57150">
                  <a:moveTo>
                    <a:pt x="0" y="0"/>
                  </a:moveTo>
                  <a:lnTo>
                    <a:pt x="152400" y="0"/>
                  </a:lnTo>
                  <a:lnTo>
                    <a:pt x="152400" y="57150"/>
                  </a:lnTo>
                  <a:lnTo>
                    <a:pt x="0" y="57150"/>
                  </a:lnTo>
                  <a:close/>
                </a:path>
              </a:pathLst>
            </a:custGeom>
            <a:solidFill>
              <a:srgbClr val="000000"/>
            </a:solidFill>
            <a:ln w="12700">
              <a:solidFill>
                <a:srgbClr val="000000"/>
              </a:solidFill>
            </a:ln>
          </p:spPr>
        </p:sp>
        <p:sp>
          <p:nvSpPr>
            <p:cNvPr id="11" name="Freeform 11"/>
            <p:cNvSpPr/>
            <p:nvPr/>
          </p:nvSpPr>
          <p:spPr>
            <a:xfrm>
              <a:off x="215900" y="63500"/>
              <a:ext cx="5978396" cy="57150"/>
            </a:xfrm>
            <a:custGeom>
              <a:avLst/>
              <a:gdLst/>
              <a:ahLst/>
              <a:cxnLst/>
              <a:rect l="l" t="t" r="r" b="b"/>
              <a:pathLst>
                <a:path w="5978396" h="57150">
                  <a:moveTo>
                    <a:pt x="0" y="0"/>
                  </a:moveTo>
                  <a:lnTo>
                    <a:pt x="5978396" y="0"/>
                  </a:lnTo>
                  <a:lnTo>
                    <a:pt x="5978396" y="57150"/>
                  </a:lnTo>
                  <a:lnTo>
                    <a:pt x="0" y="57150"/>
                  </a:lnTo>
                  <a:close/>
                </a:path>
              </a:pathLst>
            </a:custGeom>
            <a:solidFill>
              <a:srgbClr val="000000"/>
            </a:solidFill>
            <a:ln w="12700">
              <a:solidFill>
                <a:srgbClr val="000000"/>
              </a:solidFill>
            </a:ln>
          </p:spPr>
        </p:sp>
      </p:grpSp>
      <p:sp>
        <p:nvSpPr>
          <p:cNvPr id="12" name="TextBox 12"/>
          <p:cNvSpPr txBox="1"/>
          <p:nvPr/>
        </p:nvSpPr>
        <p:spPr>
          <a:xfrm>
            <a:off x="6078588" y="250241"/>
            <a:ext cx="6253439" cy="841238"/>
          </a:xfrm>
          <a:prstGeom prst="rect">
            <a:avLst/>
          </a:prstGeom>
        </p:spPr>
        <p:txBody>
          <a:bodyPr lIns="0" tIns="0" rIns="0" bIns="0" rtlCol="0" anchor="t">
            <a:spAutoFit/>
          </a:bodyPr>
          <a:lstStyle/>
          <a:p>
            <a:pPr algn="l">
              <a:lnSpc>
                <a:spcPts val="6719"/>
              </a:lnSpc>
            </a:pPr>
            <a:r>
              <a:rPr lang="en-US" sz="4800" b="1">
                <a:solidFill>
                  <a:srgbClr val="000000"/>
                </a:solidFill>
                <a:latin typeface="Times New Roman Bold"/>
                <a:ea typeface="Times New Roman Bold"/>
                <a:cs typeface="Times New Roman Bold"/>
                <a:sym typeface="Times New Roman Bold"/>
              </a:rPr>
              <a:t> PROPOSED SYSTEM</a:t>
            </a:r>
          </a:p>
        </p:txBody>
      </p:sp>
      <p:sp>
        <p:nvSpPr>
          <p:cNvPr id="13" name="TextBox 13"/>
          <p:cNvSpPr txBox="1"/>
          <p:nvPr/>
        </p:nvSpPr>
        <p:spPr>
          <a:xfrm>
            <a:off x="777183" y="5620664"/>
            <a:ext cx="17603572" cy="3824183"/>
          </a:xfrm>
          <a:prstGeom prst="rect">
            <a:avLst/>
          </a:prstGeom>
        </p:spPr>
        <p:txBody>
          <a:bodyPr lIns="0" tIns="0" rIns="0" bIns="0" rtlCol="0" anchor="t">
            <a:spAutoFit/>
          </a:bodyPr>
          <a:lstStyle/>
          <a:p>
            <a:pPr algn="l">
              <a:lnSpc>
                <a:spcPts val="5025"/>
              </a:lnSpc>
            </a:pPr>
            <a:r>
              <a:rPr lang="en-US" sz="3600">
                <a:solidFill>
                  <a:srgbClr val="000000"/>
                </a:solidFill>
                <a:latin typeface="Times New Roman"/>
                <a:ea typeface="Times New Roman"/>
                <a:cs typeface="Times New Roman"/>
                <a:sym typeface="Times New Roman"/>
              </a:rPr>
              <a:t>The proposed system uses advanced AI, Machine Learning, and NLP techniques to automatically evaluate subjective answers with higher accuracy. It performs semantic analysis using methods like Word2Vec, Word Mover’s Distance (WMD), TF-IDF, and Naive Bayes to understand meaning rather than exact words. The system provides fair, consistent, and efficient grading, reducing human bias, evaluation time, and manual effort.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450847" y="422272"/>
            <a:ext cx="17388583" cy="9413434"/>
            <a:chOff x="0" y="0"/>
            <a:chExt cx="17388586" cy="9413431"/>
          </a:xfrm>
        </p:grpSpPr>
        <p:sp>
          <p:nvSpPr>
            <p:cNvPr id="3" name="Freeform 3"/>
            <p:cNvSpPr/>
            <p:nvPr/>
          </p:nvSpPr>
          <p:spPr>
            <a:xfrm>
              <a:off x="63500" y="63500"/>
              <a:ext cx="17259302" cy="9286369"/>
            </a:xfrm>
            <a:custGeom>
              <a:avLst/>
              <a:gdLst/>
              <a:ahLst/>
              <a:cxnLst/>
              <a:rect l="l" t="t" r="r" b="b"/>
              <a:pathLst>
                <a:path w="17259302" h="9286369">
                  <a:moveTo>
                    <a:pt x="0" y="0"/>
                  </a:moveTo>
                  <a:lnTo>
                    <a:pt x="0" y="9286369"/>
                  </a:lnTo>
                  <a:lnTo>
                    <a:pt x="17259302" y="9286369"/>
                  </a:lnTo>
                  <a:lnTo>
                    <a:pt x="17259302" y="0"/>
                  </a:lnTo>
                  <a:close/>
                </a:path>
              </a:pathLst>
            </a:custGeom>
            <a:solidFill>
              <a:srgbClr val="FFFFFF"/>
            </a:solidFill>
            <a:ln w="12700">
              <a:solidFill>
                <a:srgbClr val="000000"/>
              </a:solidFill>
            </a:ln>
          </p:spPr>
        </p:sp>
        <p:sp>
          <p:nvSpPr>
            <p:cNvPr id="4" name="Freeform 4"/>
            <p:cNvSpPr/>
            <p:nvPr/>
          </p:nvSpPr>
          <p:spPr>
            <a:xfrm>
              <a:off x="6276086" y="1198499"/>
              <a:ext cx="4834001" cy="66675"/>
            </a:xfrm>
            <a:custGeom>
              <a:avLst/>
              <a:gdLst/>
              <a:ahLst/>
              <a:cxnLst/>
              <a:rect l="l" t="t" r="r" b="b"/>
              <a:pathLst>
                <a:path w="4834001" h="66675">
                  <a:moveTo>
                    <a:pt x="0" y="0"/>
                  </a:moveTo>
                  <a:lnTo>
                    <a:pt x="4834002" y="0"/>
                  </a:lnTo>
                  <a:lnTo>
                    <a:pt x="4834002" y="66675"/>
                  </a:lnTo>
                  <a:lnTo>
                    <a:pt x="0" y="66675"/>
                  </a:lnTo>
                  <a:close/>
                </a:path>
              </a:pathLst>
            </a:custGeom>
            <a:solidFill>
              <a:srgbClr val="2A2E3A"/>
            </a:solidFill>
            <a:ln w="12700">
              <a:solidFill>
                <a:srgbClr val="000000"/>
              </a:solidFill>
            </a:ln>
          </p:spPr>
        </p:sp>
        <p:sp>
          <p:nvSpPr>
            <p:cNvPr id="5" name="Freeform 5"/>
            <p:cNvSpPr/>
            <p:nvPr/>
          </p:nvSpPr>
          <p:spPr>
            <a:xfrm>
              <a:off x="770509" y="1799209"/>
              <a:ext cx="135128" cy="135128"/>
            </a:xfrm>
            <a:custGeom>
              <a:avLst/>
              <a:gdLst/>
              <a:ahLst/>
              <a:cxnLst/>
              <a:rect l="l" t="t" r="r" b="b"/>
              <a:pathLst>
                <a:path w="135128" h="135128">
                  <a:moveTo>
                    <a:pt x="135128" y="67564"/>
                  </a:moveTo>
                  <a:cubicBezTo>
                    <a:pt x="135128" y="72009"/>
                    <a:pt x="134747" y="76454"/>
                    <a:pt x="133858" y="80772"/>
                  </a:cubicBezTo>
                  <a:cubicBezTo>
                    <a:pt x="132969" y="85090"/>
                    <a:pt x="131699" y="89408"/>
                    <a:pt x="130048" y="93472"/>
                  </a:cubicBezTo>
                  <a:cubicBezTo>
                    <a:pt x="128397" y="97536"/>
                    <a:pt x="126238" y="101473"/>
                    <a:pt x="123825" y="105156"/>
                  </a:cubicBezTo>
                  <a:cubicBezTo>
                    <a:pt x="121412" y="108839"/>
                    <a:pt x="118491" y="112268"/>
                    <a:pt x="115443" y="115443"/>
                  </a:cubicBezTo>
                  <a:cubicBezTo>
                    <a:pt x="112395" y="118618"/>
                    <a:pt x="108839" y="121412"/>
                    <a:pt x="105156" y="123825"/>
                  </a:cubicBezTo>
                  <a:cubicBezTo>
                    <a:pt x="101473" y="126238"/>
                    <a:pt x="97536" y="128397"/>
                    <a:pt x="93472" y="130048"/>
                  </a:cubicBezTo>
                  <a:cubicBezTo>
                    <a:pt x="89408" y="131699"/>
                    <a:pt x="85090" y="132969"/>
                    <a:pt x="80772" y="133858"/>
                  </a:cubicBezTo>
                  <a:cubicBezTo>
                    <a:pt x="76454" y="134747"/>
                    <a:pt x="72009" y="135128"/>
                    <a:pt x="67564" y="135128"/>
                  </a:cubicBezTo>
                  <a:cubicBezTo>
                    <a:pt x="63119" y="135128"/>
                    <a:pt x="58674" y="134747"/>
                    <a:pt x="54356" y="133858"/>
                  </a:cubicBezTo>
                  <a:cubicBezTo>
                    <a:pt x="50038" y="132969"/>
                    <a:pt x="45720" y="131699"/>
                    <a:pt x="41656" y="130048"/>
                  </a:cubicBezTo>
                  <a:cubicBezTo>
                    <a:pt x="37592" y="128397"/>
                    <a:pt x="33655" y="126238"/>
                    <a:pt x="29972" y="123825"/>
                  </a:cubicBezTo>
                  <a:cubicBezTo>
                    <a:pt x="26289" y="121412"/>
                    <a:pt x="22860" y="118491"/>
                    <a:pt x="19685" y="115443"/>
                  </a:cubicBezTo>
                  <a:cubicBezTo>
                    <a:pt x="16510" y="112395"/>
                    <a:pt x="13716" y="108839"/>
                    <a:pt x="11303" y="105156"/>
                  </a:cubicBezTo>
                  <a:cubicBezTo>
                    <a:pt x="8890" y="101473"/>
                    <a:pt x="6731" y="97536"/>
                    <a:pt x="5080" y="93472"/>
                  </a:cubicBezTo>
                  <a:cubicBezTo>
                    <a:pt x="3429" y="89408"/>
                    <a:pt x="2159" y="85090"/>
                    <a:pt x="1270" y="80772"/>
                  </a:cubicBezTo>
                  <a:cubicBezTo>
                    <a:pt x="381" y="76454"/>
                    <a:pt x="0" y="72009"/>
                    <a:pt x="0" y="67564"/>
                  </a:cubicBezTo>
                  <a:cubicBezTo>
                    <a:pt x="0" y="63119"/>
                    <a:pt x="381" y="58674"/>
                    <a:pt x="1270" y="54356"/>
                  </a:cubicBezTo>
                  <a:cubicBezTo>
                    <a:pt x="2159" y="50038"/>
                    <a:pt x="3429" y="45720"/>
                    <a:pt x="5080" y="41656"/>
                  </a:cubicBezTo>
                  <a:cubicBezTo>
                    <a:pt x="6731" y="37592"/>
                    <a:pt x="8890" y="33655"/>
                    <a:pt x="11303" y="29972"/>
                  </a:cubicBezTo>
                  <a:cubicBezTo>
                    <a:pt x="13716" y="26289"/>
                    <a:pt x="16637" y="22860"/>
                    <a:pt x="19685" y="19685"/>
                  </a:cubicBezTo>
                  <a:cubicBezTo>
                    <a:pt x="22733" y="16510"/>
                    <a:pt x="26289" y="13716"/>
                    <a:pt x="29972" y="11303"/>
                  </a:cubicBezTo>
                  <a:cubicBezTo>
                    <a:pt x="33655" y="8890"/>
                    <a:pt x="37592" y="6731"/>
                    <a:pt x="41656" y="5080"/>
                  </a:cubicBezTo>
                  <a:cubicBezTo>
                    <a:pt x="45720" y="3429"/>
                    <a:pt x="50038" y="2159"/>
                    <a:pt x="54356" y="1270"/>
                  </a:cubicBezTo>
                  <a:cubicBezTo>
                    <a:pt x="58674" y="381"/>
                    <a:pt x="63119" y="0"/>
                    <a:pt x="67564" y="0"/>
                  </a:cubicBezTo>
                  <a:cubicBezTo>
                    <a:pt x="72009" y="0"/>
                    <a:pt x="76454" y="381"/>
                    <a:pt x="80772" y="1270"/>
                  </a:cubicBezTo>
                  <a:cubicBezTo>
                    <a:pt x="85090" y="2159"/>
                    <a:pt x="89408" y="3429"/>
                    <a:pt x="93472" y="5080"/>
                  </a:cubicBezTo>
                  <a:cubicBezTo>
                    <a:pt x="97536" y="6731"/>
                    <a:pt x="101473" y="8890"/>
                    <a:pt x="105156" y="11303"/>
                  </a:cubicBezTo>
                  <a:cubicBezTo>
                    <a:pt x="108839" y="13716"/>
                    <a:pt x="112268" y="16637"/>
                    <a:pt x="115443" y="19685"/>
                  </a:cubicBezTo>
                  <a:cubicBezTo>
                    <a:pt x="118618" y="22733"/>
                    <a:pt x="121412" y="26289"/>
                    <a:pt x="123825" y="29972"/>
                  </a:cubicBezTo>
                  <a:cubicBezTo>
                    <a:pt x="126238" y="33655"/>
                    <a:pt x="128397" y="37592"/>
                    <a:pt x="130048" y="41656"/>
                  </a:cubicBezTo>
                  <a:cubicBezTo>
                    <a:pt x="131699" y="45720"/>
                    <a:pt x="132969" y="50038"/>
                    <a:pt x="133858" y="54356"/>
                  </a:cubicBezTo>
                  <a:cubicBezTo>
                    <a:pt x="134747" y="58674"/>
                    <a:pt x="135128" y="63119"/>
                    <a:pt x="135128" y="67564"/>
                  </a:cubicBezTo>
                  <a:close/>
                </a:path>
              </a:pathLst>
            </a:custGeom>
            <a:solidFill>
              <a:srgbClr val="2A2E3A"/>
            </a:solidFill>
            <a:ln w="12700">
              <a:solidFill>
                <a:srgbClr val="000000"/>
              </a:solidFill>
            </a:ln>
          </p:spPr>
        </p:sp>
        <p:sp>
          <p:nvSpPr>
            <p:cNvPr id="6" name="Freeform 6"/>
            <p:cNvSpPr/>
            <p:nvPr/>
          </p:nvSpPr>
          <p:spPr>
            <a:xfrm>
              <a:off x="770509" y="3703574"/>
              <a:ext cx="135128" cy="135128"/>
            </a:xfrm>
            <a:custGeom>
              <a:avLst/>
              <a:gdLst/>
              <a:ahLst/>
              <a:cxnLst/>
              <a:rect l="l" t="t" r="r" b="b"/>
              <a:pathLst>
                <a:path w="135128" h="135128">
                  <a:moveTo>
                    <a:pt x="135128" y="67564"/>
                  </a:moveTo>
                  <a:cubicBezTo>
                    <a:pt x="135128" y="72009"/>
                    <a:pt x="134747" y="76455"/>
                    <a:pt x="133858" y="80773"/>
                  </a:cubicBezTo>
                  <a:cubicBezTo>
                    <a:pt x="132969" y="85090"/>
                    <a:pt x="131699" y="89408"/>
                    <a:pt x="130048" y="93473"/>
                  </a:cubicBezTo>
                  <a:cubicBezTo>
                    <a:pt x="128397" y="97536"/>
                    <a:pt x="126238" y="101474"/>
                    <a:pt x="123825" y="105156"/>
                  </a:cubicBezTo>
                  <a:cubicBezTo>
                    <a:pt x="121412" y="108839"/>
                    <a:pt x="118491" y="112268"/>
                    <a:pt x="115443" y="115443"/>
                  </a:cubicBezTo>
                  <a:cubicBezTo>
                    <a:pt x="112395" y="118618"/>
                    <a:pt x="108839" y="121412"/>
                    <a:pt x="105156" y="123825"/>
                  </a:cubicBezTo>
                  <a:cubicBezTo>
                    <a:pt x="101473" y="126238"/>
                    <a:pt x="97536" y="128398"/>
                    <a:pt x="93472" y="130049"/>
                  </a:cubicBezTo>
                  <a:cubicBezTo>
                    <a:pt x="89408" y="131699"/>
                    <a:pt x="85090" y="132969"/>
                    <a:pt x="80772" y="133858"/>
                  </a:cubicBezTo>
                  <a:cubicBezTo>
                    <a:pt x="76454" y="134748"/>
                    <a:pt x="72009" y="135129"/>
                    <a:pt x="67564" y="135129"/>
                  </a:cubicBezTo>
                  <a:cubicBezTo>
                    <a:pt x="63119" y="135129"/>
                    <a:pt x="58674" y="134748"/>
                    <a:pt x="54356" y="133858"/>
                  </a:cubicBezTo>
                  <a:cubicBezTo>
                    <a:pt x="50038" y="132969"/>
                    <a:pt x="45720" y="131699"/>
                    <a:pt x="41656" y="130049"/>
                  </a:cubicBezTo>
                  <a:cubicBezTo>
                    <a:pt x="37592" y="128398"/>
                    <a:pt x="33655" y="126238"/>
                    <a:pt x="29972" y="123825"/>
                  </a:cubicBezTo>
                  <a:cubicBezTo>
                    <a:pt x="26289" y="121412"/>
                    <a:pt x="22860" y="118492"/>
                    <a:pt x="19685" y="115443"/>
                  </a:cubicBezTo>
                  <a:cubicBezTo>
                    <a:pt x="16510" y="112395"/>
                    <a:pt x="13716" y="108839"/>
                    <a:pt x="11303" y="105156"/>
                  </a:cubicBezTo>
                  <a:cubicBezTo>
                    <a:pt x="8890" y="101474"/>
                    <a:pt x="6731" y="97536"/>
                    <a:pt x="5080" y="93473"/>
                  </a:cubicBezTo>
                  <a:cubicBezTo>
                    <a:pt x="3429" y="89408"/>
                    <a:pt x="2159" y="85090"/>
                    <a:pt x="1270" y="80773"/>
                  </a:cubicBezTo>
                  <a:cubicBezTo>
                    <a:pt x="381" y="76455"/>
                    <a:pt x="0" y="72009"/>
                    <a:pt x="0" y="67564"/>
                  </a:cubicBezTo>
                  <a:cubicBezTo>
                    <a:pt x="0" y="63119"/>
                    <a:pt x="381" y="58674"/>
                    <a:pt x="1270" y="54356"/>
                  </a:cubicBezTo>
                  <a:cubicBezTo>
                    <a:pt x="2159" y="50038"/>
                    <a:pt x="3429" y="45720"/>
                    <a:pt x="5080" y="41656"/>
                  </a:cubicBezTo>
                  <a:cubicBezTo>
                    <a:pt x="6731" y="37593"/>
                    <a:pt x="8890" y="33655"/>
                    <a:pt x="11303" y="29973"/>
                  </a:cubicBezTo>
                  <a:cubicBezTo>
                    <a:pt x="13716" y="26289"/>
                    <a:pt x="16637" y="22861"/>
                    <a:pt x="19685" y="19686"/>
                  </a:cubicBezTo>
                  <a:cubicBezTo>
                    <a:pt x="22733" y="16511"/>
                    <a:pt x="26289" y="13717"/>
                    <a:pt x="29972" y="11304"/>
                  </a:cubicBezTo>
                  <a:cubicBezTo>
                    <a:pt x="33655" y="8890"/>
                    <a:pt x="37592" y="6731"/>
                    <a:pt x="41656" y="5080"/>
                  </a:cubicBezTo>
                  <a:cubicBezTo>
                    <a:pt x="45720" y="3430"/>
                    <a:pt x="50038" y="2159"/>
                    <a:pt x="54356" y="1270"/>
                  </a:cubicBezTo>
                  <a:cubicBezTo>
                    <a:pt x="58674" y="381"/>
                    <a:pt x="63119" y="0"/>
                    <a:pt x="67564" y="0"/>
                  </a:cubicBezTo>
                  <a:cubicBezTo>
                    <a:pt x="72009" y="0"/>
                    <a:pt x="76454" y="381"/>
                    <a:pt x="80772" y="1270"/>
                  </a:cubicBezTo>
                  <a:cubicBezTo>
                    <a:pt x="85090" y="2159"/>
                    <a:pt x="89408" y="3430"/>
                    <a:pt x="93472" y="5080"/>
                  </a:cubicBezTo>
                  <a:cubicBezTo>
                    <a:pt x="97536" y="6731"/>
                    <a:pt x="101473" y="8890"/>
                    <a:pt x="105156" y="11304"/>
                  </a:cubicBezTo>
                  <a:cubicBezTo>
                    <a:pt x="108839" y="13717"/>
                    <a:pt x="112268" y="16637"/>
                    <a:pt x="115443" y="19686"/>
                  </a:cubicBezTo>
                  <a:cubicBezTo>
                    <a:pt x="118618" y="22733"/>
                    <a:pt x="121412" y="26289"/>
                    <a:pt x="123825" y="29973"/>
                  </a:cubicBezTo>
                  <a:cubicBezTo>
                    <a:pt x="126238" y="33655"/>
                    <a:pt x="128397" y="37593"/>
                    <a:pt x="130048" y="41656"/>
                  </a:cubicBezTo>
                  <a:cubicBezTo>
                    <a:pt x="131699" y="45720"/>
                    <a:pt x="132969" y="50038"/>
                    <a:pt x="133858" y="54356"/>
                  </a:cubicBezTo>
                  <a:cubicBezTo>
                    <a:pt x="134747" y="58674"/>
                    <a:pt x="135128" y="63119"/>
                    <a:pt x="135128" y="67564"/>
                  </a:cubicBezTo>
                  <a:close/>
                </a:path>
              </a:pathLst>
            </a:custGeom>
            <a:solidFill>
              <a:srgbClr val="2A2E3A"/>
            </a:solidFill>
            <a:ln w="12700">
              <a:solidFill>
                <a:srgbClr val="000000"/>
              </a:solidFill>
            </a:ln>
          </p:spPr>
        </p:sp>
        <p:sp>
          <p:nvSpPr>
            <p:cNvPr id="7" name="Freeform 7"/>
            <p:cNvSpPr/>
            <p:nvPr/>
          </p:nvSpPr>
          <p:spPr>
            <a:xfrm>
              <a:off x="770509" y="5607813"/>
              <a:ext cx="135128" cy="135128"/>
            </a:xfrm>
            <a:custGeom>
              <a:avLst/>
              <a:gdLst/>
              <a:ahLst/>
              <a:cxnLst/>
              <a:rect l="l" t="t" r="r" b="b"/>
              <a:pathLst>
                <a:path w="135128" h="135128">
                  <a:moveTo>
                    <a:pt x="135128" y="67564"/>
                  </a:moveTo>
                  <a:cubicBezTo>
                    <a:pt x="135128" y="72009"/>
                    <a:pt x="134747" y="76454"/>
                    <a:pt x="133858" y="80772"/>
                  </a:cubicBezTo>
                  <a:cubicBezTo>
                    <a:pt x="132969" y="85090"/>
                    <a:pt x="131699" y="89408"/>
                    <a:pt x="130048" y="93472"/>
                  </a:cubicBezTo>
                  <a:cubicBezTo>
                    <a:pt x="128397" y="97536"/>
                    <a:pt x="126238" y="101473"/>
                    <a:pt x="123825" y="105156"/>
                  </a:cubicBezTo>
                  <a:cubicBezTo>
                    <a:pt x="121412" y="108839"/>
                    <a:pt x="118491" y="112268"/>
                    <a:pt x="115443" y="115443"/>
                  </a:cubicBezTo>
                  <a:cubicBezTo>
                    <a:pt x="112395" y="118618"/>
                    <a:pt x="108839" y="121412"/>
                    <a:pt x="105156" y="123825"/>
                  </a:cubicBezTo>
                  <a:cubicBezTo>
                    <a:pt x="101473" y="126238"/>
                    <a:pt x="97536" y="128397"/>
                    <a:pt x="93472" y="130048"/>
                  </a:cubicBezTo>
                  <a:cubicBezTo>
                    <a:pt x="89408" y="131699"/>
                    <a:pt x="85090" y="132969"/>
                    <a:pt x="80772" y="133858"/>
                  </a:cubicBezTo>
                  <a:cubicBezTo>
                    <a:pt x="76454" y="134747"/>
                    <a:pt x="72009" y="135128"/>
                    <a:pt x="67564" y="135128"/>
                  </a:cubicBezTo>
                  <a:cubicBezTo>
                    <a:pt x="63119" y="135128"/>
                    <a:pt x="58674" y="134747"/>
                    <a:pt x="54356" y="133858"/>
                  </a:cubicBezTo>
                  <a:cubicBezTo>
                    <a:pt x="50038" y="132969"/>
                    <a:pt x="45720" y="131699"/>
                    <a:pt x="41656" y="130048"/>
                  </a:cubicBezTo>
                  <a:cubicBezTo>
                    <a:pt x="37592" y="128397"/>
                    <a:pt x="33655" y="126238"/>
                    <a:pt x="29972" y="123825"/>
                  </a:cubicBezTo>
                  <a:cubicBezTo>
                    <a:pt x="26289" y="121412"/>
                    <a:pt x="22860" y="118491"/>
                    <a:pt x="19685" y="115443"/>
                  </a:cubicBezTo>
                  <a:cubicBezTo>
                    <a:pt x="16510" y="112395"/>
                    <a:pt x="13716" y="108839"/>
                    <a:pt x="11303" y="105156"/>
                  </a:cubicBezTo>
                  <a:cubicBezTo>
                    <a:pt x="8890" y="101473"/>
                    <a:pt x="6731" y="97536"/>
                    <a:pt x="5080" y="93472"/>
                  </a:cubicBezTo>
                  <a:cubicBezTo>
                    <a:pt x="3429" y="89408"/>
                    <a:pt x="2159" y="85090"/>
                    <a:pt x="1270" y="80772"/>
                  </a:cubicBezTo>
                  <a:cubicBezTo>
                    <a:pt x="381" y="76454"/>
                    <a:pt x="0" y="72009"/>
                    <a:pt x="0" y="67564"/>
                  </a:cubicBezTo>
                  <a:cubicBezTo>
                    <a:pt x="0" y="63119"/>
                    <a:pt x="381" y="58674"/>
                    <a:pt x="1270" y="54356"/>
                  </a:cubicBezTo>
                  <a:cubicBezTo>
                    <a:pt x="2159" y="50038"/>
                    <a:pt x="3429" y="45720"/>
                    <a:pt x="5080" y="41656"/>
                  </a:cubicBezTo>
                  <a:cubicBezTo>
                    <a:pt x="6731" y="37592"/>
                    <a:pt x="8890" y="33655"/>
                    <a:pt x="11303" y="29972"/>
                  </a:cubicBezTo>
                  <a:cubicBezTo>
                    <a:pt x="13716" y="26289"/>
                    <a:pt x="16637" y="22860"/>
                    <a:pt x="19685" y="19685"/>
                  </a:cubicBezTo>
                  <a:cubicBezTo>
                    <a:pt x="22733" y="16510"/>
                    <a:pt x="26289" y="13716"/>
                    <a:pt x="29972" y="11303"/>
                  </a:cubicBezTo>
                  <a:cubicBezTo>
                    <a:pt x="33655" y="8890"/>
                    <a:pt x="37592" y="6731"/>
                    <a:pt x="41656" y="5080"/>
                  </a:cubicBezTo>
                  <a:cubicBezTo>
                    <a:pt x="45720" y="3429"/>
                    <a:pt x="50038" y="2159"/>
                    <a:pt x="54356" y="1270"/>
                  </a:cubicBezTo>
                  <a:cubicBezTo>
                    <a:pt x="58674" y="381"/>
                    <a:pt x="63119" y="0"/>
                    <a:pt x="67564" y="0"/>
                  </a:cubicBezTo>
                  <a:cubicBezTo>
                    <a:pt x="72009" y="0"/>
                    <a:pt x="76454" y="381"/>
                    <a:pt x="80772" y="1270"/>
                  </a:cubicBezTo>
                  <a:cubicBezTo>
                    <a:pt x="85090" y="2159"/>
                    <a:pt x="89408" y="3429"/>
                    <a:pt x="93472" y="5080"/>
                  </a:cubicBezTo>
                  <a:cubicBezTo>
                    <a:pt x="97536" y="6731"/>
                    <a:pt x="101473" y="8890"/>
                    <a:pt x="105156" y="11303"/>
                  </a:cubicBezTo>
                  <a:cubicBezTo>
                    <a:pt x="108839" y="13716"/>
                    <a:pt x="112268" y="16637"/>
                    <a:pt x="115443" y="19685"/>
                  </a:cubicBezTo>
                  <a:cubicBezTo>
                    <a:pt x="118618" y="22733"/>
                    <a:pt x="121412" y="26289"/>
                    <a:pt x="123825" y="29972"/>
                  </a:cubicBezTo>
                  <a:cubicBezTo>
                    <a:pt x="126238" y="33655"/>
                    <a:pt x="128397" y="37592"/>
                    <a:pt x="130048" y="41656"/>
                  </a:cubicBezTo>
                  <a:cubicBezTo>
                    <a:pt x="131699" y="45720"/>
                    <a:pt x="132969" y="50038"/>
                    <a:pt x="133858" y="54356"/>
                  </a:cubicBezTo>
                  <a:cubicBezTo>
                    <a:pt x="134747" y="58674"/>
                    <a:pt x="135128" y="63119"/>
                    <a:pt x="135128" y="67564"/>
                  </a:cubicBezTo>
                  <a:close/>
                </a:path>
              </a:pathLst>
            </a:custGeom>
            <a:solidFill>
              <a:srgbClr val="2A2E3A"/>
            </a:solidFill>
            <a:ln w="12700">
              <a:solidFill>
                <a:srgbClr val="000000"/>
              </a:solidFill>
            </a:ln>
          </p:spPr>
        </p:sp>
        <p:sp>
          <p:nvSpPr>
            <p:cNvPr id="8" name="Freeform 8"/>
            <p:cNvSpPr/>
            <p:nvPr/>
          </p:nvSpPr>
          <p:spPr>
            <a:xfrm>
              <a:off x="770509" y="7492747"/>
              <a:ext cx="135128" cy="135128"/>
            </a:xfrm>
            <a:custGeom>
              <a:avLst/>
              <a:gdLst/>
              <a:ahLst/>
              <a:cxnLst/>
              <a:rect l="l" t="t" r="r" b="b"/>
              <a:pathLst>
                <a:path w="135128" h="135128">
                  <a:moveTo>
                    <a:pt x="135128" y="67564"/>
                  </a:moveTo>
                  <a:cubicBezTo>
                    <a:pt x="135128" y="72008"/>
                    <a:pt x="134747" y="76454"/>
                    <a:pt x="133858" y="80771"/>
                  </a:cubicBezTo>
                  <a:cubicBezTo>
                    <a:pt x="132969" y="85090"/>
                    <a:pt x="131699" y="89407"/>
                    <a:pt x="130048" y="93471"/>
                  </a:cubicBezTo>
                  <a:cubicBezTo>
                    <a:pt x="128397" y="97535"/>
                    <a:pt x="126238" y="101472"/>
                    <a:pt x="123825" y="105156"/>
                  </a:cubicBezTo>
                  <a:cubicBezTo>
                    <a:pt x="121412" y="108839"/>
                    <a:pt x="118491" y="112268"/>
                    <a:pt x="115443" y="115443"/>
                  </a:cubicBezTo>
                  <a:cubicBezTo>
                    <a:pt x="112395" y="118618"/>
                    <a:pt x="108839" y="121411"/>
                    <a:pt x="105156" y="123825"/>
                  </a:cubicBezTo>
                  <a:cubicBezTo>
                    <a:pt x="101473" y="126238"/>
                    <a:pt x="97536" y="128396"/>
                    <a:pt x="93472" y="130047"/>
                  </a:cubicBezTo>
                  <a:cubicBezTo>
                    <a:pt x="89408" y="131698"/>
                    <a:pt x="85090" y="132969"/>
                    <a:pt x="80772" y="133857"/>
                  </a:cubicBezTo>
                  <a:cubicBezTo>
                    <a:pt x="76454" y="134746"/>
                    <a:pt x="72009" y="135128"/>
                    <a:pt x="67564" y="135128"/>
                  </a:cubicBezTo>
                  <a:cubicBezTo>
                    <a:pt x="63119" y="135128"/>
                    <a:pt x="58674" y="134746"/>
                    <a:pt x="54356" y="133857"/>
                  </a:cubicBezTo>
                  <a:cubicBezTo>
                    <a:pt x="50038" y="132969"/>
                    <a:pt x="45720" y="131698"/>
                    <a:pt x="41656" y="130047"/>
                  </a:cubicBezTo>
                  <a:cubicBezTo>
                    <a:pt x="37592" y="128396"/>
                    <a:pt x="33655" y="126238"/>
                    <a:pt x="29972" y="123825"/>
                  </a:cubicBezTo>
                  <a:cubicBezTo>
                    <a:pt x="26289" y="121411"/>
                    <a:pt x="22860" y="118491"/>
                    <a:pt x="19685" y="115443"/>
                  </a:cubicBezTo>
                  <a:cubicBezTo>
                    <a:pt x="16510" y="112395"/>
                    <a:pt x="13716" y="108839"/>
                    <a:pt x="11303" y="105156"/>
                  </a:cubicBezTo>
                  <a:cubicBezTo>
                    <a:pt x="8890" y="101472"/>
                    <a:pt x="6731" y="97535"/>
                    <a:pt x="5080" y="93471"/>
                  </a:cubicBezTo>
                  <a:cubicBezTo>
                    <a:pt x="3429" y="89407"/>
                    <a:pt x="2159" y="85090"/>
                    <a:pt x="1270" y="80771"/>
                  </a:cubicBezTo>
                  <a:cubicBezTo>
                    <a:pt x="381" y="76454"/>
                    <a:pt x="0" y="72008"/>
                    <a:pt x="0" y="67564"/>
                  </a:cubicBezTo>
                  <a:cubicBezTo>
                    <a:pt x="0" y="63119"/>
                    <a:pt x="381" y="58673"/>
                    <a:pt x="1270" y="54356"/>
                  </a:cubicBezTo>
                  <a:cubicBezTo>
                    <a:pt x="2159" y="50038"/>
                    <a:pt x="3429" y="45720"/>
                    <a:pt x="5080" y="41656"/>
                  </a:cubicBezTo>
                  <a:cubicBezTo>
                    <a:pt x="6731" y="37592"/>
                    <a:pt x="8890" y="33655"/>
                    <a:pt x="11303" y="29971"/>
                  </a:cubicBezTo>
                  <a:cubicBezTo>
                    <a:pt x="13716" y="26289"/>
                    <a:pt x="16637" y="22859"/>
                    <a:pt x="19685" y="19684"/>
                  </a:cubicBezTo>
                  <a:cubicBezTo>
                    <a:pt x="22733" y="16509"/>
                    <a:pt x="26289" y="13716"/>
                    <a:pt x="29972" y="11303"/>
                  </a:cubicBezTo>
                  <a:cubicBezTo>
                    <a:pt x="33655" y="8890"/>
                    <a:pt x="37592" y="6731"/>
                    <a:pt x="41656" y="5080"/>
                  </a:cubicBezTo>
                  <a:cubicBezTo>
                    <a:pt x="45720" y="3429"/>
                    <a:pt x="50038" y="2158"/>
                    <a:pt x="54356" y="1270"/>
                  </a:cubicBezTo>
                  <a:cubicBezTo>
                    <a:pt x="58674" y="381"/>
                    <a:pt x="63119" y="0"/>
                    <a:pt x="67564" y="0"/>
                  </a:cubicBezTo>
                  <a:cubicBezTo>
                    <a:pt x="72009" y="0"/>
                    <a:pt x="76454" y="381"/>
                    <a:pt x="80772" y="1270"/>
                  </a:cubicBezTo>
                  <a:cubicBezTo>
                    <a:pt x="85090" y="2158"/>
                    <a:pt x="89408" y="3429"/>
                    <a:pt x="93472" y="5080"/>
                  </a:cubicBezTo>
                  <a:cubicBezTo>
                    <a:pt x="97536" y="6731"/>
                    <a:pt x="101473" y="8890"/>
                    <a:pt x="105156" y="11303"/>
                  </a:cubicBezTo>
                  <a:cubicBezTo>
                    <a:pt x="108839" y="13716"/>
                    <a:pt x="112268" y="16636"/>
                    <a:pt x="115443" y="19684"/>
                  </a:cubicBezTo>
                  <a:cubicBezTo>
                    <a:pt x="118618" y="22732"/>
                    <a:pt x="121412" y="26289"/>
                    <a:pt x="123825" y="29971"/>
                  </a:cubicBezTo>
                  <a:cubicBezTo>
                    <a:pt x="126238" y="33655"/>
                    <a:pt x="128397" y="37592"/>
                    <a:pt x="130048" y="41656"/>
                  </a:cubicBezTo>
                  <a:cubicBezTo>
                    <a:pt x="131699" y="45720"/>
                    <a:pt x="132969" y="50038"/>
                    <a:pt x="133858" y="54356"/>
                  </a:cubicBezTo>
                  <a:cubicBezTo>
                    <a:pt x="134747" y="58673"/>
                    <a:pt x="135128" y="63119"/>
                    <a:pt x="135128" y="67564"/>
                  </a:cubicBezTo>
                  <a:close/>
                </a:path>
              </a:pathLst>
            </a:custGeom>
            <a:solidFill>
              <a:srgbClr val="2A2E3A"/>
            </a:solidFill>
            <a:ln w="12700">
              <a:solidFill>
                <a:srgbClr val="000000"/>
              </a:solidFill>
            </a:ln>
          </p:spPr>
        </p:sp>
      </p:grpSp>
      <p:sp>
        <p:nvSpPr>
          <p:cNvPr id="9" name="TextBox 9"/>
          <p:cNvSpPr txBox="1"/>
          <p:nvPr/>
        </p:nvSpPr>
        <p:spPr>
          <a:xfrm>
            <a:off x="6726907" y="860603"/>
            <a:ext cx="4930654" cy="979780"/>
          </a:xfrm>
          <a:prstGeom prst="rect">
            <a:avLst/>
          </a:prstGeom>
        </p:spPr>
        <p:txBody>
          <a:bodyPr lIns="0" tIns="0" rIns="0" bIns="0" rtlCol="0" anchor="t">
            <a:spAutoFit/>
          </a:bodyPr>
          <a:lstStyle/>
          <a:p>
            <a:pPr algn="l">
              <a:lnSpc>
                <a:spcPts val="7839"/>
              </a:lnSpc>
            </a:pPr>
            <a:r>
              <a:rPr lang="en-US" sz="5599" b="1">
                <a:solidFill>
                  <a:srgbClr val="2A2E3A"/>
                </a:solidFill>
                <a:latin typeface="Times New Roman Bold"/>
                <a:ea typeface="Times New Roman Bold"/>
                <a:cs typeface="Times New Roman Bold"/>
                <a:sym typeface="Times New Roman Bold"/>
              </a:rPr>
              <a:t>ADVANTAGES</a:t>
            </a:r>
          </a:p>
        </p:txBody>
      </p:sp>
      <p:sp>
        <p:nvSpPr>
          <p:cNvPr id="10" name="TextBox 10"/>
          <p:cNvSpPr txBox="1"/>
          <p:nvPr/>
        </p:nvSpPr>
        <p:spPr>
          <a:xfrm>
            <a:off x="1552927" y="1952120"/>
            <a:ext cx="3617290" cy="626059"/>
          </a:xfrm>
          <a:prstGeom prst="rect">
            <a:avLst/>
          </a:prstGeom>
        </p:spPr>
        <p:txBody>
          <a:bodyPr lIns="0" tIns="0" rIns="0" bIns="0" rtlCol="0" anchor="t">
            <a:spAutoFit/>
          </a:bodyPr>
          <a:lstStyle/>
          <a:p>
            <a:pPr algn="l">
              <a:lnSpc>
                <a:spcPts val="4972"/>
              </a:lnSpc>
            </a:pPr>
            <a:r>
              <a:rPr lang="en-US" sz="3551" b="1">
                <a:solidFill>
                  <a:srgbClr val="2A2E3A"/>
                </a:solidFill>
                <a:latin typeface="Times New Roman Bold"/>
                <a:ea typeface="Times New Roman Bold"/>
                <a:cs typeface="Times New Roman Bold"/>
                <a:sym typeface="Times New Roman Bold"/>
              </a:rPr>
              <a:t>Rapid Evaluation:</a:t>
            </a:r>
          </a:p>
        </p:txBody>
      </p:sp>
      <p:sp>
        <p:nvSpPr>
          <p:cNvPr id="11" name="TextBox 11"/>
          <p:cNvSpPr txBox="1"/>
          <p:nvPr/>
        </p:nvSpPr>
        <p:spPr>
          <a:xfrm>
            <a:off x="1552927" y="7645679"/>
            <a:ext cx="3796532" cy="626059"/>
          </a:xfrm>
          <a:prstGeom prst="rect">
            <a:avLst/>
          </a:prstGeom>
        </p:spPr>
        <p:txBody>
          <a:bodyPr lIns="0" tIns="0" rIns="0" bIns="0" rtlCol="0" anchor="t">
            <a:spAutoFit/>
          </a:bodyPr>
          <a:lstStyle/>
          <a:p>
            <a:pPr algn="l">
              <a:lnSpc>
                <a:spcPts val="4961"/>
              </a:lnSpc>
            </a:pPr>
            <a:r>
              <a:rPr lang="en-US" sz="3551" b="1">
                <a:solidFill>
                  <a:srgbClr val="2A2E3A"/>
                </a:solidFill>
                <a:latin typeface="Times New Roman Bold"/>
                <a:ea typeface="Times New Roman Bold"/>
                <a:cs typeface="Times New Roman Bold"/>
                <a:sym typeface="Times New Roman Bold"/>
              </a:rPr>
              <a:t>Enhanced Insights:</a:t>
            </a:r>
          </a:p>
        </p:txBody>
      </p:sp>
      <p:sp>
        <p:nvSpPr>
          <p:cNvPr id="12" name="TextBox 12"/>
          <p:cNvSpPr txBox="1"/>
          <p:nvPr/>
        </p:nvSpPr>
        <p:spPr>
          <a:xfrm>
            <a:off x="3646475" y="8268624"/>
            <a:ext cx="116719" cy="633908"/>
          </a:xfrm>
          <a:prstGeom prst="rect">
            <a:avLst/>
          </a:prstGeom>
        </p:spPr>
        <p:txBody>
          <a:bodyPr lIns="0" tIns="0" rIns="0" bIns="0" rtlCol="0" anchor="t">
            <a:spAutoFit/>
          </a:bodyPr>
          <a:lstStyle/>
          <a:p>
            <a:pPr algn="l">
              <a:lnSpc>
                <a:spcPts val="5034"/>
              </a:lnSpc>
            </a:pPr>
            <a:r>
              <a:rPr lang="en-US" sz="3603">
                <a:solidFill>
                  <a:srgbClr val="2A2E3A"/>
                </a:solidFill>
                <a:latin typeface="Times New Roman"/>
                <a:ea typeface="Times New Roman"/>
                <a:cs typeface="Times New Roman"/>
                <a:sym typeface="Times New Roman"/>
              </a:rPr>
              <a:t> </a:t>
            </a:r>
          </a:p>
        </p:txBody>
      </p:sp>
      <p:sp>
        <p:nvSpPr>
          <p:cNvPr id="13" name="TextBox 13"/>
          <p:cNvSpPr txBox="1"/>
          <p:nvPr/>
        </p:nvSpPr>
        <p:spPr>
          <a:xfrm>
            <a:off x="4154843" y="5117354"/>
            <a:ext cx="116719" cy="633908"/>
          </a:xfrm>
          <a:prstGeom prst="rect">
            <a:avLst/>
          </a:prstGeom>
        </p:spPr>
        <p:txBody>
          <a:bodyPr lIns="0" tIns="0" rIns="0" bIns="0" rtlCol="0" anchor="t">
            <a:spAutoFit/>
          </a:bodyPr>
          <a:lstStyle/>
          <a:p>
            <a:pPr algn="l">
              <a:lnSpc>
                <a:spcPts val="5013"/>
              </a:lnSpc>
            </a:pPr>
            <a:r>
              <a:rPr lang="en-US" sz="3603">
                <a:solidFill>
                  <a:srgbClr val="2A2E3A"/>
                </a:solidFill>
                <a:latin typeface="Times New Roman"/>
                <a:ea typeface="Times New Roman"/>
                <a:cs typeface="Times New Roman"/>
                <a:sym typeface="Times New Roman"/>
              </a:rPr>
              <a:t> </a:t>
            </a:r>
          </a:p>
        </p:txBody>
      </p:sp>
      <p:sp>
        <p:nvSpPr>
          <p:cNvPr id="14" name="TextBox 14"/>
          <p:cNvSpPr txBox="1"/>
          <p:nvPr/>
        </p:nvSpPr>
        <p:spPr>
          <a:xfrm>
            <a:off x="1552927" y="5760710"/>
            <a:ext cx="3872008" cy="626059"/>
          </a:xfrm>
          <a:prstGeom prst="rect">
            <a:avLst/>
          </a:prstGeom>
        </p:spPr>
        <p:txBody>
          <a:bodyPr lIns="0" tIns="0" rIns="0" bIns="0" rtlCol="0" anchor="t">
            <a:spAutoFit/>
          </a:bodyPr>
          <a:lstStyle/>
          <a:p>
            <a:pPr algn="l">
              <a:lnSpc>
                <a:spcPts val="4940"/>
              </a:lnSpc>
            </a:pPr>
            <a:r>
              <a:rPr lang="en-US" sz="3551" b="1">
                <a:solidFill>
                  <a:srgbClr val="2A2E3A"/>
                </a:solidFill>
                <a:latin typeface="Times New Roman Bold"/>
                <a:ea typeface="Times New Roman Bold"/>
                <a:cs typeface="Times New Roman Bold"/>
                <a:sym typeface="Times New Roman Bold"/>
              </a:rPr>
              <a:t>Adaptive Learning:</a:t>
            </a:r>
          </a:p>
        </p:txBody>
      </p:sp>
      <p:sp>
        <p:nvSpPr>
          <p:cNvPr id="15" name="TextBox 15"/>
          <p:cNvSpPr txBox="1"/>
          <p:nvPr/>
        </p:nvSpPr>
        <p:spPr>
          <a:xfrm>
            <a:off x="5194668" y="6379559"/>
            <a:ext cx="115014" cy="626059"/>
          </a:xfrm>
          <a:prstGeom prst="rect">
            <a:avLst/>
          </a:prstGeom>
        </p:spPr>
        <p:txBody>
          <a:bodyPr lIns="0" tIns="0" rIns="0" bIns="0" rtlCol="0" anchor="t">
            <a:spAutoFit/>
          </a:bodyPr>
          <a:lstStyle/>
          <a:p>
            <a:pPr algn="l">
              <a:lnSpc>
                <a:spcPts val="4940"/>
              </a:lnSpc>
            </a:pPr>
            <a:r>
              <a:rPr lang="en-US" sz="3551">
                <a:solidFill>
                  <a:srgbClr val="2A2E3A"/>
                </a:solidFill>
                <a:latin typeface="Times New Roman"/>
                <a:ea typeface="Times New Roman"/>
                <a:cs typeface="Times New Roman"/>
                <a:sym typeface="Times New Roman"/>
              </a:rPr>
              <a:t> </a:t>
            </a:r>
          </a:p>
        </p:txBody>
      </p:sp>
      <p:sp>
        <p:nvSpPr>
          <p:cNvPr id="16" name="TextBox 16"/>
          <p:cNvSpPr txBox="1"/>
          <p:nvPr/>
        </p:nvSpPr>
        <p:spPr>
          <a:xfrm>
            <a:off x="4751260" y="3213059"/>
            <a:ext cx="116719" cy="633908"/>
          </a:xfrm>
          <a:prstGeom prst="rect">
            <a:avLst/>
          </a:prstGeom>
        </p:spPr>
        <p:txBody>
          <a:bodyPr lIns="0" tIns="0" rIns="0" bIns="0" rtlCol="0" anchor="t">
            <a:spAutoFit/>
          </a:bodyPr>
          <a:lstStyle/>
          <a:p>
            <a:pPr algn="l">
              <a:lnSpc>
                <a:spcPts val="5009"/>
              </a:lnSpc>
            </a:pPr>
            <a:r>
              <a:rPr lang="en-US" sz="3603">
                <a:solidFill>
                  <a:srgbClr val="2A2E3A"/>
                </a:solidFill>
                <a:latin typeface="Times New Roman"/>
                <a:ea typeface="Times New Roman"/>
                <a:cs typeface="Times New Roman"/>
                <a:sym typeface="Times New Roman"/>
              </a:rPr>
              <a:t> </a:t>
            </a:r>
          </a:p>
        </p:txBody>
      </p:sp>
      <p:sp>
        <p:nvSpPr>
          <p:cNvPr id="17" name="TextBox 17"/>
          <p:cNvSpPr txBox="1"/>
          <p:nvPr/>
        </p:nvSpPr>
        <p:spPr>
          <a:xfrm>
            <a:off x="1552927" y="3856415"/>
            <a:ext cx="4332475" cy="626059"/>
          </a:xfrm>
          <a:prstGeom prst="rect">
            <a:avLst/>
          </a:prstGeom>
        </p:spPr>
        <p:txBody>
          <a:bodyPr lIns="0" tIns="0" rIns="0" bIns="0" rtlCol="0" anchor="t">
            <a:spAutoFit/>
          </a:bodyPr>
          <a:lstStyle/>
          <a:p>
            <a:pPr algn="l">
              <a:lnSpc>
                <a:spcPts val="4936"/>
              </a:lnSpc>
            </a:pPr>
            <a:r>
              <a:rPr lang="en-US" sz="3551" b="1">
                <a:solidFill>
                  <a:srgbClr val="2A2E3A"/>
                </a:solidFill>
                <a:latin typeface="Times New Roman Bold"/>
                <a:ea typeface="Times New Roman Bold"/>
                <a:cs typeface="Times New Roman Bold"/>
                <a:sym typeface="Times New Roman Bold"/>
              </a:rPr>
              <a:t>Unbiased Assessment:</a:t>
            </a:r>
          </a:p>
        </p:txBody>
      </p:sp>
      <p:sp>
        <p:nvSpPr>
          <p:cNvPr id="18" name="TextBox 18"/>
          <p:cNvSpPr txBox="1"/>
          <p:nvPr/>
        </p:nvSpPr>
        <p:spPr>
          <a:xfrm>
            <a:off x="1930222" y="2575065"/>
            <a:ext cx="15568765" cy="633908"/>
          </a:xfrm>
          <a:prstGeom prst="rect">
            <a:avLst/>
          </a:prstGeom>
        </p:spPr>
        <p:txBody>
          <a:bodyPr lIns="0" tIns="0" rIns="0" bIns="0" rtlCol="0" anchor="t">
            <a:spAutoFit/>
          </a:bodyPr>
          <a:lstStyle/>
          <a:p>
            <a:pPr algn="l">
              <a:lnSpc>
                <a:spcPts val="5023"/>
              </a:lnSpc>
            </a:pPr>
            <a:r>
              <a:rPr lang="en-US" sz="3603">
                <a:solidFill>
                  <a:srgbClr val="2A2E3A"/>
                </a:solidFill>
                <a:latin typeface="Times New Roman"/>
                <a:ea typeface="Times New Roman"/>
                <a:cs typeface="Times New Roman"/>
                <a:sym typeface="Times New Roman"/>
              </a:rPr>
              <a:t>Quickly processes large volumes of exams, significantly reducing grading time and</a:t>
            </a:r>
          </a:p>
        </p:txBody>
      </p:sp>
      <p:sp>
        <p:nvSpPr>
          <p:cNvPr id="19" name="TextBox 19"/>
          <p:cNvSpPr txBox="1"/>
          <p:nvPr/>
        </p:nvSpPr>
        <p:spPr>
          <a:xfrm>
            <a:off x="2044713" y="3213059"/>
            <a:ext cx="6849269" cy="635105"/>
          </a:xfrm>
          <a:prstGeom prst="rect">
            <a:avLst/>
          </a:prstGeom>
        </p:spPr>
        <p:txBody>
          <a:bodyPr lIns="0" tIns="0" rIns="0" bIns="0" rtlCol="0" anchor="t">
            <a:spAutoFit/>
          </a:bodyPr>
          <a:lstStyle/>
          <a:p>
            <a:pPr algn="l">
              <a:lnSpc>
                <a:spcPts val="5023"/>
              </a:lnSpc>
            </a:pPr>
            <a:r>
              <a:rPr lang="en-US" sz="3603">
                <a:solidFill>
                  <a:srgbClr val="2A2E3A"/>
                </a:solidFill>
                <a:latin typeface="Times New Roman"/>
                <a:ea typeface="Times New Roman"/>
                <a:cs typeface="Times New Roman"/>
                <a:sym typeface="Times New Roman"/>
              </a:rPr>
              <a:t>enabling faster feedback for students.</a:t>
            </a:r>
          </a:p>
        </p:txBody>
      </p:sp>
      <p:sp>
        <p:nvSpPr>
          <p:cNvPr id="20" name="TextBox 20"/>
          <p:cNvSpPr txBox="1"/>
          <p:nvPr/>
        </p:nvSpPr>
        <p:spPr>
          <a:xfrm>
            <a:off x="2044713" y="4098360"/>
            <a:ext cx="14959413" cy="1014908"/>
          </a:xfrm>
          <a:prstGeom prst="rect">
            <a:avLst/>
          </a:prstGeom>
        </p:spPr>
        <p:txBody>
          <a:bodyPr lIns="0" tIns="0" rIns="0" bIns="0" rtlCol="0" anchor="t">
            <a:spAutoFit/>
          </a:bodyPr>
          <a:lstStyle/>
          <a:p>
            <a:pPr algn="l">
              <a:lnSpc>
                <a:spcPts val="9009"/>
              </a:lnSpc>
            </a:pPr>
            <a:r>
              <a:rPr lang="en-US" sz="3603">
                <a:solidFill>
                  <a:srgbClr val="2A2E3A"/>
                </a:solidFill>
                <a:latin typeface="Times New Roman"/>
                <a:ea typeface="Times New Roman"/>
                <a:cs typeface="Times New Roman"/>
                <a:sym typeface="Times New Roman"/>
              </a:rPr>
              <a:t>Employs objective criteria and algorithms to ensure fair and consistent grading, </a:t>
            </a:r>
          </a:p>
        </p:txBody>
      </p:sp>
      <p:sp>
        <p:nvSpPr>
          <p:cNvPr id="21" name="TextBox 21"/>
          <p:cNvSpPr txBox="1"/>
          <p:nvPr/>
        </p:nvSpPr>
        <p:spPr>
          <a:xfrm>
            <a:off x="2044713" y="5422154"/>
            <a:ext cx="10269538" cy="339445"/>
          </a:xfrm>
          <a:prstGeom prst="rect">
            <a:avLst/>
          </a:prstGeom>
        </p:spPr>
        <p:txBody>
          <a:bodyPr lIns="0" tIns="0" rIns="0" bIns="0" rtlCol="0" anchor="t">
            <a:spAutoFit/>
          </a:bodyPr>
          <a:lstStyle/>
          <a:p>
            <a:pPr algn="l">
              <a:lnSpc>
                <a:spcPts val="1801"/>
              </a:lnSpc>
            </a:pPr>
            <a:r>
              <a:rPr lang="en-US" sz="3603">
                <a:solidFill>
                  <a:srgbClr val="2A2E3A"/>
                </a:solidFill>
                <a:latin typeface="Times New Roman"/>
                <a:ea typeface="Times New Roman"/>
                <a:cs typeface="Times New Roman"/>
                <a:sym typeface="Times New Roman"/>
              </a:rPr>
              <a:t>minimizing human subjectivity and enhancing integrity.</a:t>
            </a:r>
          </a:p>
        </p:txBody>
      </p:sp>
      <p:sp>
        <p:nvSpPr>
          <p:cNvPr id="22" name="TextBox 22"/>
          <p:cNvSpPr txBox="1"/>
          <p:nvPr/>
        </p:nvSpPr>
        <p:spPr>
          <a:xfrm>
            <a:off x="2044713" y="8268624"/>
            <a:ext cx="15593517" cy="635105"/>
          </a:xfrm>
          <a:prstGeom prst="rect">
            <a:avLst/>
          </a:prstGeom>
        </p:spPr>
        <p:txBody>
          <a:bodyPr lIns="0" tIns="0" rIns="0" bIns="0" rtlCol="0" anchor="t">
            <a:spAutoFit/>
          </a:bodyPr>
          <a:lstStyle/>
          <a:p>
            <a:pPr algn="l">
              <a:lnSpc>
                <a:spcPts val="5023"/>
              </a:lnSpc>
            </a:pPr>
            <a:r>
              <a:rPr lang="en-US" sz="3603">
                <a:solidFill>
                  <a:srgbClr val="2A2E3A"/>
                </a:solidFill>
                <a:latin typeface="Times New Roman"/>
                <a:ea typeface="Times New Roman"/>
                <a:cs typeface="Times New Roman"/>
                <a:sym typeface="Times New Roman"/>
              </a:rPr>
              <a:t>Provides valuable data analytics on student performance and common misconception</a:t>
            </a:r>
          </a:p>
        </p:txBody>
      </p:sp>
      <p:sp>
        <p:nvSpPr>
          <p:cNvPr id="23" name="TextBox 23"/>
          <p:cNvSpPr txBox="1"/>
          <p:nvPr/>
        </p:nvSpPr>
        <p:spPr>
          <a:xfrm>
            <a:off x="2044713" y="8906608"/>
            <a:ext cx="8840267" cy="633908"/>
          </a:xfrm>
          <a:prstGeom prst="rect">
            <a:avLst/>
          </a:prstGeom>
        </p:spPr>
        <p:txBody>
          <a:bodyPr lIns="0" tIns="0" rIns="0" bIns="0" rtlCol="0" anchor="t">
            <a:spAutoFit/>
          </a:bodyPr>
          <a:lstStyle/>
          <a:p>
            <a:pPr algn="l">
              <a:lnSpc>
                <a:spcPts val="5023"/>
              </a:lnSpc>
            </a:pPr>
            <a:r>
              <a:rPr lang="en-US" sz="3603">
                <a:solidFill>
                  <a:srgbClr val="2A2E3A"/>
                </a:solidFill>
                <a:latin typeface="Times New Roman"/>
                <a:ea typeface="Times New Roman"/>
                <a:cs typeface="Times New Roman"/>
                <a:sym typeface="Times New Roman"/>
              </a:rPr>
              <a:t>aiding educators in refining teaching strategies.</a:t>
            </a:r>
          </a:p>
        </p:txBody>
      </p:sp>
      <p:sp>
        <p:nvSpPr>
          <p:cNvPr id="24" name="TextBox 24"/>
          <p:cNvSpPr txBox="1"/>
          <p:nvPr/>
        </p:nvSpPr>
        <p:spPr>
          <a:xfrm>
            <a:off x="2026434" y="6379559"/>
            <a:ext cx="15404604" cy="627325"/>
          </a:xfrm>
          <a:prstGeom prst="rect">
            <a:avLst/>
          </a:prstGeom>
        </p:spPr>
        <p:txBody>
          <a:bodyPr lIns="0" tIns="0" rIns="0" bIns="0" rtlCol="0" anchor="t">
            <a:spAutoFit/>
          </a:bodyPr>
          <a:lstStyle/>
          <a:p>
            <a:pPr algn="l">
              <a:lnSpc>
                <a:spcPts val="4947"/>
              </a:lnSpc>
            </a:pPr>
            <a:r>
              <a:rPr lang="en-US" sz="3551">
                <a:solidFill>
                  <a:srgbClr val="2A2E3A"/>
                </a:solidFill>
                <a:latin typeface="Times New Roman"/>
                <a:ea typeface="Times New Roman"/>
                <a:cs typeface="Times New Roman"/>
                <a:sym typeface="Times New Roman"/>
              </a:rPr>
              <a:t>Machine learning capabilities allow the system to adapt to various question types and</a:t>
            </a:r>
          </a:p>
        </p:txBody>
      </p:sp>
      <p:sp>
        <p:nvSpPr>
          <p:cNvPr id="25" name="TextBox 25"/>
          <p:cNvSpPr txBox="1"/>
          <p:nvPr/>
        </p:nvSpPr>
        <p:spPr>
          <a:xfrm>
            <a:off x="2026434" y="7007885"/>
            <a:ext cx="6584166" cy="577979"/>
          </a:xfrm>
          <a:prstGeom prst="rect">
            <a:avLst/>
          </a:prstGeom>
        </p:spPr>
        <p:txBody>
          <a:bodyPr wrap="square" lIns="0" tIns="0" rIns="0" bIns="0" rtlCol="0" anchor="t">
            <a:spAutoFit/>
          </a:bodyPr>
          <a:lstStyle/>
          <a:p>
            <a:pPr algn="l">
              <a:lnSpc>
                <a:spcPts val="4947"/>
              </a:lnSpc>
            </a:pPr>
            <a:r>
              <a:rPr lang="en-US" sz="3551" dirty="0">
                <a:solidFill>
                  <a:srgbClr val="2A2E3A"/>
                </a:solidFill>
                <a:latin typeface="Times New Roman"/>
                <a:ea typeface="Times New Roman"/>
                <a:cs typeface="Times New Roman"/>
                <a:sym typeface="Times New Roman"/>
              </a:rPr>
              <a:t>       improving accuracy over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87067" y="2752792"/>
            <a:ext cx="13571191" cy="4781416"/>
          </a:xfrm>
          <a:custGeom>
            <a:avLst/>
            <a:gdLst/>
            <a:ahLst/>
            <a:cxnLst/>
            <a:rect l="l" t="t" r="r" b="b"/>
            <a:pathLst>
              <a:path w="13571191" h="4781416">
                <a:moveTo>
                  <a:pt x="0" y="0"/>
                </a:moveTo>
                <a:lnTo>
                  <a:pt x="13571191" y="0"/>
                </a:lnTo>
                <a:lnTo>
                  <a:pt x="13571191" y="4781416"/>
                </a:lnTo>
                <a:lnTo>
                  <a:pt x="0" y="4781416"/>
                </a:lnTo>
                <a:lnTo>
                  <a:pt x="0" y="0"/>
                </a:lnTo>
                <a:close/>
              </a:path>
            </a:pathLst>
          </a:custGeom>
          <a:blipFill>
            <a:blip r:embed="rId2"/>
            <a:stretch>
              <a:fillRect r="-1753"/>
            </a:stretch>
          </a:blipFill>
        </p:spPr>
      </p:sp>
      <p:sp>
        <p:nvSpPr>
          <p:cNvPr id="3" name="TextBox 3"/>
          <p:cNvSpPr txBox="1"/>
          <p:nvPr/>
        </p:nvSpPr>
        <p:spPr>
          <a:xfrm>
            <a:off x="3733800" y="1038224"/>
            <a:ext cx="11811000" cy="918585"/>
          </a:xfrm>
          <a:prstGeom prst="rect">
            <a:avLst/>
          </a:prstGeom>
        </p:spPr>
        <p:txBody>
          <a:bodyPr wrap="square" lIns="0" tIns="0" rIns="0" bIns="0" rtlCol="0" anchor="t">
            <a:spAutoFit/>
          </a:bodyPr>
          <a:lstStyle/>
          <a:p>
            <a:pPr algn="ctr">
              <a:lnSpc>
                <a:spcPts val="7806"/>
              </a:lnSpc>
              <a:spcBef>
                <a:spcPct val="0"/>
              </a:spcBef>
            </a:pPr>
            <a:r>
              <a:rPr lang="en-US" sz="5600" b="1" u="sng" dirty="0">
                <a:solidFill>
                  <a:srgbClr val="000000"/>
                </a:solidFill>
                <a:latin typeface="Times New Roman Bold"/>
                <a:ea typeface="Times New Roman Bold"/>
                <a:cs typeface="Times New Roman Bold"/>
                <a:sym typeface="Times New Roman Bold"/>
              </a:rPr>
              <a:t>HARDWARE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74229" y="1290726"/>
            <a:ext cx="9989284" cy="5073914"/>
          </a:xfrm>
          <a:custGeom>
            <a:avLst/>
            <a:gdLst/>
            <a:ahLst/>
            <a:cxnLst/>
            <a:rect l="l" t="t" r="r" b="b"/>
            <a:pathLst>
              <a:path w="9989284" h="5073914">
                <a:moveTo>
                  <a:pt x="0" y="0"/>
                </a:moveTo>
                <a:lnTo>
                  <a:pt x="9989285" y="0"/>
                </a:lnTo>
                <a:lnTo>
                  <a:pt x="9989285" y="5073914"/>
                </a:lnTo>
                <a:lnTo>
                  <a:pt x="0" y="5073914"/>
                </a:lnTo>
                <a:lnTo>
                  <a:pt x="0" y="0"/>
                </a:lnTo>
                <a:close/>
              </a:path>
            </a:pathLst>
          </a:custGeom>
          <a:blipFill>
            <a:blip r:embed="rId2"/>
            <a:stretch>
              <a:fillRect l="-166" r="-166"/>
            </a:stretch>
          </a:blipFill>
        </p:spPr>
      </p:sp>
      <p:sp>
        <p:nvSpPr>
          <p:cNvPr id="3" name="Freeform 3"/>
          <p:cNvSpPr/>
          <p:nvPr/>
        </p:nvSpPr>
        <p:spPr>
          <a:xfrm>
            <a:off x="4074229" y="6364640"/>
            <a:ext cx="9989284" cy="3713201"/>
          </a:xfrm>
          <a:custGeom>
            <a:avLst/>
            <a:gdLst/>
            <a:ahLst/>
            <a:cxnLst/>
            <a:rect l="l" t="t" r="r" b="b"/>
            <a:pathLst>
              <a:path w="9989284" h="3713201">
                <a:moveTo>
                  <a:pt x="0" y="0"/>
                </a:moveTo>
                <a:lnTo>
                  <a:pt x="9989285" y="0"/>
                </a:lnTo>
                <a:lnTo>
                  <a:pt x="9989285" y="3713201"/>
                </a:lnTo>
                <a:lnTo>
                  <a:pt x="0" y="3713201"/>
                </a:lnTo>
                <a:lnTo>
                  <a:pt x="0" y="0"/>
                </a:lnTo>
                <a:close/>
              </a:path>
            </a:pathLst>
          </a:custGeom>
          <a:blipFill>
            <a:blip r:embed="rId3"/>
            <a:stretch>
              <a:fillRect l="-2171" r="-2171"/>
            </a:stretch>
          </a:blipFill>
        </p:spPr>
      </p:sp>
      <p:sp>
        <p:nvSpPr>
          <p:cNvPr id="4" name="TextBox 4"/>
          <p:cNvSpPr txBox="1"/>
          <p:nvPr/>
        </p:nvSpPr>
        <p:spPr>
          <a:xfrm>
            <a:off x="3581400" y="281365"/>
            <a:ext cx="11353799" cy="836191"/>
          </a:xfrm>
          <a:prstGeom prst="rect">
            <a:avLst/>
          </a:prstGeom>
        </p:spPr>
        <p:txBody>
          <a:bodyPr wrap="square" lIns="0" tIns="0" rIns="0" bIns="0" rtlCol="0" anchor="t">
            <a:spAutoFit/>
          </a:bodyPr>
          <a:lstStyle/>
          <a:p>
            <a:pPr algn="ctr">
              <a:lnSpc>
                <a:spcPts val="7109"/>
              </a:lnSpc>
              <a:spcBef>
                <a:spcPct val="0"/>
              </a:spcBef>
            </a:pPr>
            <a:r>
              <a:rPr lang="en-US" sz="5100" b="1" u="sng" dirty="0">
                <a:solidFill>
                  <a:srgbClr val="000000"/>
                </a:solidFill>
                <a:latin typeface="Times New Roman Bold"/>
                <a:ea typeface="Times New Roman Bold"/>
                <a:cs typeface="Times New Roman Bold"/>
                <a:sym typeface="Times New Roman Bold"/>
              </a:rPr>
              <a:t>SOFTWARE REQUIREMENTS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5427" y="1544965"/>
            <a:ext cx="14561525" cy="8477250"/>
          </a:xfrm>
          <a:custGeom>
            <a:avLst/>
            <a:gdLst/>
            <a:ahLst/>
            <a:cxnLst/>
            <a:rect l="l" t="t" r="r" b="b"/>
            <a:pathLst>
              <a:path w="14561525" h="8477250">
                <a:moveTo>
                  <a:pt x="0" y="0"/>
                </a:moveTo>
                <a:lnTo>
                  <a:pt x="14561525" y="0"/>
                </a:lnTo>
                <a:lnTo>
                  <a:pt x="14561525" y="8477250"/>
                </a:lnTo>
                <a:lnTo>
                  <a:pt x="0" y="8477250"/>
                </a:lnTo>
                <a:lnTo>
                  <a:pt x="0" y="0"/>
                </a:lnTo>
                <a:close/>
              </a:path>
            </a:pathLst>
          </a:custGeom>
          <a:blipFill>
            <a:blip r:embed="rId2"/>
            <a:stretch>
              <a:fillRect l="-1061"/>
            </a:stretch>
          </a:blipFill>
        </p:spPr>
      </p:sp>
      <p:grpSp>
        <p:nvGrpSpPr>
          <p:cNvPr id="3" name="Group 3"/>
          <p:cNvGrpSpPr/>
          <p:nvPr/>
        </p:nvGrpSpPr>
        <p:grpSpPr>
          <a:xfrm>
            <a:off x="5725087" y="1127570"/>
            <a:ext cx="5808316" cy="66675"/>
            <a:chOff x="0" y="0"/>
            <a:chExt cx="5808320" cy="66675"/>
          </a:xfrm>
        </p:grpSpPr>
        <p:sp>
          <p:nvSpPr>
            <p:cNvPr id="4" name="Freeform 4"/>
            <p:cNvSpPr/>
            <p:nvPr/>
          </p:nvSpPr>
          <p:spPr>
            <a:xfrm>
              <a:off x="0" y="0"/>
              <a:ext cx="5808349" cy="66675"/>
            </a:xfrm>
            <a:custGeom>
              <a:avLst/>
              <a:gdLst/>
              <a:ahLst/>
              <a:cxnLst/>
              <a:rect l="l" t="t" r="r" b="b"/>
              <a:pathLst>
                <a:path w="5808349" h="66675">
                  <a:moveTo>
                    <a:pt x="0" y="0"/>
                  </a:moveTo>
                  <a:lnTo>
                    <a:pt x="5808349" y="0"/>
                  </a:lnTo>
                  <a:lnTo>
                    <a:pt x="5808349" y="66675"/>
                  </a:lnTo>
                  <a:lnTo>
                    <a:pt x="0" y="66675"/>
                  </a:lnTo>
                  <a:close/>
                </a:path>
              </a:pathLst>
            </a:custGeom>
            <a:solidFill>
              <a:srgbClr val="2A2E3A"/>
            </a:solidFill>
            <a:ln w="12700">
              <a:solidFill>
                <a:srgbClr val="000000"/>
              </a:solidFill>
            </a:ln>
          </p:spPr>
        </p:sp>
      </p:grpSp>
      <p:sp>
        <p:nvSpPr>
          <p:cNvPr id="5" name="TextBox 5"/>
          <p:cNvSpPr txBox="1"/>
          <p:nvPr/>
        </p:nvSpPr>
        <p:spPr>
          <a:xfrm>
            <a:off x="5725087" y="367370"/>
            <a:ext cx="5924436" cy="979780"/>
          </a:xfrm>
          <a:prstGeom prst="rect">
            <a:avLst/>
          </a:prstGeom>
        </p:spPr>
        <p:txBody>
          <a:bodyPr lIns="0" tIns="0" rIns="0" bIns="0" rtlCol="0" anchor="t">
            <a:spAutoFit/>
          </a:bodyPr>
          <a:lstStyle/>
          <a:p>
            <a:pPr algn="l">
              <a:lnSpc>
                <a:spcPts val="7839"/>
              </a:lnSpc>
            </a:pPr>
            <a:r>
              <a:rPr lang="en-US" sz="5599" b="1">
                <a:solidFill>
                  <a:srgbClr val="2A2E3A"/>
                </a:solidFill>
                <a:latin typeface="Times New Roman Bold"/>
                <a:ea typeface="Times New Roman Bold"/>
                <a:cs typeface="Times New Roman Bold"/>
                <a:sym typeface="Times New Roman Bold"/>
              </a:rPr>
              <a:t>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435388" y="1028700"/>
            <a:ext cx="8823912" cy="7805015"/>
          </a:xfrm>
          <a:custGeom>
            <a:avLst/>
            <a:gdLst/>
            <a:ahLst/>
            <a:cxnLst/>
            <a:rect l="l" t="t" r="r" b="b"/>
            <a:pathLst>
              <a:path w="8823912" h="7805015">
                <a:moveTo>
                  <a:pt x="0" y="0"/>
                </a:moveTo>
                <a:lnTo>
                  <a:pt x="8823912" y="0"/>
                </a:lnTo>
                <a:lnTo>
                  <a:pt x="8823912" y="7805015"/>
                </a:lnTo>
                <a:lnTo>
                  <a:pt x="0" y="7805015"/>
                </a:lnTo>
                <a:lnTo>
                  <a:pt x="0" y="0"/>
                </a:lnTo>
                <a:close/>
              </a:path>
            </a:pathLst>
          </a:custGeom>
          <a:blipFill>
            <a:blip r:embed="rId2"/>
            <a:stretch>
              <a:fillRect r="-913" b="-39382"/>
            </a:stretch>
          </a:blipFill>
        </p:spPr>
      </p:sp>
      <p:grpSp>
        <p:nvGrpSpPr>
          <p:cNvPr id="3" name="Group 3"/>
          <p:cNvGrpSpPr/>
          <p:nvPr/>
        </p:nvGrpSpPr>
        <p:grpSpPr>
          <a:xfrm>
            <a:off x="0" y="0"/>
            <a:ext cx="8112576" cy="10287000"/>
            <a:chOff x="0" y="0"/>
            <a:chExt cx="1256850" cy="1593725"/>
          </a:xfrm>
        </p:grpSpPr>
        <p:sp>
          <p:nvSpPr>
            <p:cNvPr id="4" name="Freeform 4"/>
            <p:cNvSpPr/>
            <p:nvPr/>
          </p:nvSpPr>
          <p:spPr>
            <a:xfrm>
              <a:off x="0" y="0"/>
              <a:ext cx="1256850" cy="1593725"/>
            </a:xfrm>
            <a:custGeom>
              <a:avLst/>
              <a:gdLst/>
              <a:ahLst/>
              <a:cxnLst/>
              <a:rect l="l" t="t" r="r" b="b"/>
              <a:pathLst>
                <a:path w="1256850" h="1593725">
                  <a:moveTo>
                    <a:pt x="0" y="0"/>
                  </a:moveTo>
                  <a:lnTo>
                    <a:pt x="1256850" y="0"/>
                  </a:lnTo>
                  <a:lnTo>
                    <a:pt x="1256850" y="1593725"/>
                  </a:lnTo>
                  <a:lnTo>
                    <a:pt x="0" y="1593725"/>
                  </a:lnTo>
                  <a:close/>
                </a:path>
              </a:pathLst>
            </a:custGeom>
            <a:solidFill>
              <a:srgbClr val="153969"/>
            </a:solidFill>
            <a:ln w="12700">
              <a:solidFill>
                <a:srgbClr val="000000"/>
              </a:solidFill>
            </a:ln>
          </p:spPr>
        </p:sp>
      </p:grpSp>
      <p:sp>
        <p:nvSpPr>
          <p:cNvPr id="5" name="TextBox 5"/>
          <p:cNvSpPr txBox="1"/>
          <p:nvPr/>
        </p:nvSpPr>
        <p:spPr>
          <a:xfrm>
            <a:off x="2050675" y="4041502"/>
            <a:ext cx="4011225" cy="1937295"/>
          </a:xfrm>
          <a:prstGeom prst="rect">
            <a:avLst/>
          </a:prstGeom>
        </p:spPr>
        <p:txBody>
          <a:bodyPr lIns="0" tIns="0" rIns="0" bIns="0" rtlCol="0" anchor="t">
            <a:spAutoFit/>
          </a:bodyPr>
          <a:lstStyle/>
          <a:p>
            <a:pPr algn="ctr">
              <a:lnSpc>
                <a:spcPts val="7875"/>
              </a:lnSpc>
            </a:pPr>
            <a:r>
              <a:rPr lang="en-US" sz="4399" b="1">
                <a:solidFill>
                  <a:srgbClr val="FFFFFF"/>
                </a:solidFill>
                <a:latin typeface="Times New Roman Bold"/>
                <a:ea typeface="Times New Roman Bold"/>
                <a:cs typeface="Times New Roman Bold"/>
                <a:sym typeface="Times New Roman Bold"/>
              </a:rPr>
              <a:t> LITERATURE SURVEY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78475" cy="10287000"/>
          </a:xfrm>
          <a:custGeom>
            <a:avLst/>
            <a:gdLst/>
            <a:ahLst/>
            <a:cxnLst/>
            <a:rect l="l" t="t" r="r" b="b"/>
            <a:pathLst>
              <a:path w="18278475" h="10287000">
                <a:moveTo>
                  <a:pt x="0" y="0"/>
                </a:moveTo>
                <a:lnTo>
                  <a:pt x="18278475" y="0"/>
                </a:lnTo>
                <a:lnTo>
                  <a:pt x="18278475" y="10287000"/>
                </a:lnTo>
                <a:lnTo>
                  <a:pt x="0" y="10287000"/>
                </a:lnTo>
                <a:lnTo>
                  <a:pt x="0" y="0"/>
                </a:lnTo>
                <a:close/>
              </a:path>
            </a:pathLst>
          </a:custGeom>
          <a:blipFill>
            <a:blip r:embed="rId2"/>
            <a:stretch>
              <a:fillRect l="-6700" t="-13493" r="-6691" b="-24"/>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638</Words>
  <Application>Microsoft Office PowerPoint</Application>
  <PresentationFormat>Custom</PresentationFormat>
  <Paragraphs>81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Times New Roman</vt:lpstr>
      <vt:lpstr>Arial</vt:lpstr>
      <vt:lpstr>Times New Roman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AUTOMATIC EXAMINATION PAPER EVALUATION SYSTEM.pdf</dc:title>
  <dc:creator>DELL</dc:creator>
  <cp:lastModifiedBy>Ramya Sai Tirumalasetty</cp:lastModifiedBy>
  <cp:revision>2</cp:revision>
  <dcterms:created xsi:type="dcterms:W3CDTF">2006-08-16T00:00:00Z</dcterms:created>
  <dcterms:modified xsi:type="dcterms:W3CDTF">2026-01-30T13:30:33Z</dcterms:modified>
  <dc:identifier>DAG-7FPEppU</dc:identifier>
</cp:coreProperties>
</file>